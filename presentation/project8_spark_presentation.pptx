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as an experiment, not as a claim that caching always improves total runtime.
The key question is what happens after the first materialization when the same links RDD is reused.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things the teacher will look for: actual distributed components, an iterative workload, a fair cache comparison, and observable correctness/performance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the worker processes are real local Spark workers, while all components still share one physical laptop.
The links RDD is the reusable part. The rank vector changes every iteration.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design idea from the RDD paper: persistence stores partitions for reuse, while lineage remains available for recomputation.
Make clear that caching does not change the PageRank answer. It changes when work is paid.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graph is fixed across iterations, so links is the natural target for persistence.
The rank vector changes each time, so caching the final result would not answer the same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cached and uncached runs have the same input, same partitions, same two-worker budget, and same six iterations.
The separation between first materialization and later iterations is required by the assignment and is essential for interpretation.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result as a mechanism result: caching lowers later iteration time on the large workload.
The small workload is a useful counterexample. It prevents an overclaim that caching always helps.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“why did caching not always win?” question.
The teacher explicitly allows a carefully explained slowdown as a valid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Correctness is independent of caching: both configurations agree with the same sequential reference.
The logs and raw results prove what was measured and make the figures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does not reproduce the entire paper. It implements one idea accurately and states its simplifications.
The key connection is persistence for reuse plus lineage for recovery.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main takeaway and show the demo if time allows.
The only intentionally pending item is the actual feedback after the scheduled presentation. It must be filled before the final 5 November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563EB"/>
          </a:solidFill>
          <a:ln w="12700">
            <a:solidFill>
              <a:srgbClr val="2563EB"/>
            </a:solidFill>
            <a:prstDash val="solid"/>
          </a:ln>
        </p:spPr>
      </p:sp>
      <p:sp>
        <p:nvSpPr>
          <p:cNvPr id="3" name="Text 1"/>
          <p:cNvSpPr/>
          <p:nvPr/>
        </p:nvSpPr>
        <p:spPr>
          <a:xfrm>
            <a:off x="502920" y="6473952"/>
            <a:ext cx="3657600" cy="164592"/>
          </a:xfrm>
          <a:prstGeom prst="rect">
            <a:avLst/>
          </a:prstGeom>
          <a:noFill/>
        </p:spPr>
        <p:txBody>
          <a:bodyPr wrap="square" lIns="0" tIns="0" rIns="0" bIns="0" rtlCol="0" anchor="ctr"/>
          <a:lstStyle/>
          <a:p>
            <a:pPr marL="0" indent="0">
              <a:buNone/>
            </a:pPr>
            <a:r>
              <a:rPr lang="en-US" sz="800" dirty="0">
                <a:solidFill>
                  <a:srgbClr val="64748B"/>
                </a:solidFill>
                <a:latin typeface="Arial" panose="020B0604020202020204" pitchFamily="34" charset="0"/>
                <a:ea typeface="Arial" panose="020B0604020202020204" pitchFamily="34" charset="-122"/>
                <a:cs typeface="Arial" panose="020B0604020202020204" pitchFamily="34" charset="-120"/>
              </a:rPr>
              <a:t>CISC3010 | Project 8</a:t>
            </a:r>
            <a:endParaRPr lang="en-US" sz="800" dirty="0"/>
          </a:p>
        </p:txBody>
      </p:sp>
      <p:sp>
        <p:nvSpPr>
          <p:cNvPr id="4" name="Text 2"/>
          <p:cNvSpPr/>
          <p:nvPr/>
        </p:nvSpPr>
        <p:spPr>
          <a:xfrm>
            <a:off x="7315200" y="6473952"/>
            <a:ext cx="4389120" cy="164592"/>
          </a:xfrm>
          <a:prstGeom prst="rect">
            <a:avLst/>
          </a:prstGeom>
          <a:noFill/>
        </p:spPr>
        <p:txBody>
          <a:bodyPr wrap="square" lIns="0" tIns="0" rIns="0" bIns="0" rtlCol="0" anchor="ctr"/>
          <a:lstStyle/>
          <a:p>
            <a:pPr marL="0" indent="0" algn="r">
              <a:buNone/>
            </a:pPr>
            <a:r>
              <a:rPr lang="en-US" sz="800" dirty="0">
                <a:solidFill>
                  <a:srgbClr val="64748B"/>
                </a:solidFill>
                <a:latin typeface="Arial" panose="020B0604020202020204" pitchFamily="34" charset="0"/>
                <a:ea typeface="Arial" panose="020B0604020202020204" pitchFamily="34" charset="-122"/>
                <a:cs typeface="Arial" panose="020B0604020202020204" pitchFamily="34" charset="-120"/>
              </a:rPr>
              <a:t>Spark Caching and Distributed Execution</a:t>
            </a:r>
            <a:endParaRPr lang="en-US" sz="800" dirty="0"/>
          </a:p>
        </p:txBody>
      </p:sp>
      <p:sp>
        <p:nvSpPr>
          <p:cNvPr id="25" name="Slide Number Placeholder 0"/>
          <p:cNvSpPr>
            <a:spLocks noGrp="1"/>
          </p:cNvSpPr>
          <p:nvPr>
            <p:ph type="sldNum" sz="quarter" idx="4294967295"/>
          </p:nvPr>
        </p:nvSpPr>
        <p:spPr>
          <a:xfrm>
            <a:off x="11795760" y="6473952"/>
            <a:ext cx="800000" cy="300000"/>
          </a:xfrm>
          <a:prstGeom prst="rect">
            <a:avLst/>
          </a:prstGeom>
        </p:spPr>
        <p:txBody>
          <a:bodyPr/>
          <a:lstStyle>
            <a:lvl1pPr>
              <a:defRPr sz="800">
                <a:solidFill>
                  <a:srgbClr val="64748B"/>
                </a:solidFill>
                <a:latin typeface="Arial" panose="020B0604020202020204"/>
                <a:ea typeface="Arial" panose="020B0604020202020204"/>
                <a:cs typeface="Arial" panose="020B0604020202020204"/>
              </a:defRPr>
            </a:lvl1pPr>
          </a:lstStyle>
          <a:p>
            <a:pPr algn="l"/>
            <a:fld id="{F7021451-1387-4CA6-816F-3879F97B5CBC}" type="slidenum">
              <a:rPr lang="en-US" b="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95760" y="6473952"/>
            <a:ext cx="800000" cy="300000"/>
          </a:xfrm>
          <a:prstGeom prst="rect">
            <a:avLst/>
          </a:prstGeom>
        </p:spPr>
        <p:txBody>
          <a:bodyPr/>
          <a:lstStyle>
            <a:lvl1pPr>
              <a:defRPr sz="800">
                <a:solidFill>
                  <a:srgbClr val="64748B"/>
                </a:solidFill>
                <a:latin typeface="Arial" panose="020B0604020202020204"/>
                <a:ea typeface="Arial" panose="020B0604020202020204"/>
                <a:cs typeface="Arial" panose="020B0604020202020204"/>
              </a:defRPr>
            </a:lvl1pPr>
          </a:lstStyle>
          <a:p>
            <a:pPr algn="l"/>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7909560" y="109728"/>
            <a:ext cx="4279392" cy="6172200"/>
          </a:xfrm>
          <a:prstGeom prst="rect">
            <a:avLst/>
          </a:prstGeom>
          <a:solidFill>
            <a:srgbClr val="E0ECFF"/>
          </a:solidFill>
          <a:ln w="12700">
            <a:solidFill>
              <a:srgbClr val="E0ECFF"/>
            </a:solidFill>
            <a:prstDash val="solid"/>
          </a:ln>
        </p:spPr>
      </p:sp>
      <p:sp>
        <p:nvSpPr>
          <p:cNvPr id="3" name="Shape 1"/>
          <p:cNvSpPr/>
          <p:nvPr/>
        </p:nvSpPr>
        <p:spPr>
          <a:xfrm>
            <a:off x="8211312" y="1078992"/>
            <a:ext cx="3520440" cy="3520440"/>
          </a:xfrm>
          <a:prstGeom prst="arc">
            <a:avLst/>
          </a:prstGeom>
          <a:solidFill>
            <a:srgbClr val="FFFFFF">
              <a:alpha val="0"/>
            </a:srgbClr>
          </a:solidFill>
          <a:ln w="38100">
            <a:solidFill>
              <a:srgbClr val="2563EB">
                <a:alpha val="90000"/>
              </a:srgbClr>
            </a:solidFill>
            <a:prstDash val="solid"/>
          </a:ln>
        </p:spPr>
      </p:sp>
      <p:sp>
        <p:nvSpPr>
          <p:cNvPr id="4" name="Shape 2"/>
          <p:cNvSpPr/>
          <p:nvPr/>
        </p:nvSpPr>
        <p:spPr>
          <a:xfrm>
            <a:off x="8732520" y="1600200"/>
            <a:ext cx="2468880" cy="2468880"/>
          </a:xfrm>
          <a:prstGeom prst="arc">
            <a:avLst/>
          </a:prstGeom>
          <a:solidFill>
            <a:srgbClr val="FFFFFF">
              <a:alpha val="0"/>
            </a:srgbClr>
          </a:solidFill>
          <a:ln w="38100">
            <a:solidFill>
              <a:srgbClr val="16A34A">
                <a:alpha val="85000"/>
              </a:srgbClr>
            </a:solidFill>
            <a:prstDash val="solid"/>
          </a:ln>
        </p:spPr>
      </p:sp>
      <p:sp>
        <p:nvSpPr>
          <p:cNvPr id="5" name="Text 3"/>
          <p:cNvSpPr/>
          <p:nvPr/>
        </p:nvSpPr>
        <p:spPr>
          <a:xfrm>
            <a:off x="658368" y="914400"/>
            <a:ext cx="2743200" cy="256032"/>
          </a:xfrm>
          <a:prstGeom prst="rect">
            <a:avLst/>
          </a:prstGeom>
          <a:noFill/>
        </p:spPr>
        <p:txBody>
          <a:bodyPr wrap="square" lIns="381" tIns="381" rIns="381" bIns="381" rtlCol="0" anchor="ctr">
            <a:normAutofit/>
          </a:bodyPr>
          <a:lstStyle/>
          <a:p>
            <a:pPr marL="0" indent="0" algn="l">
              <a:buNone/>
            </a:pPr>
            <a:r>
              <a:rPr lang="en-US" sz="1200" b="1" dirty="0">
                <a:solidFill>
                  <a:srgbClr val="2563EB"/>
                </a:solidFill>
                <a:latin typeface="Arial" panose="020B0604020202020204" pitchFamily="34" charset="0"/>
                <a:ea typeface="Arial" panose="020B0604020202020204" pitchFamily="34" charset="-122"/>
                <a:cs typeface="Arial" panose="020B0604020202020204" pitchFamily="34" charset="-120"/>
              </a:rPr>
              <a:t>PROJECT 8</a:t>
            </a:r>
            <a:endParaRPr lang="en-US" sz="1200" dirty="0"/>
          </a:p>
        </p:txBody>
      </p:sp>
      <p:sp>
        <p:nvSpPr>
          <p:cNvPr id="6" name="Text 4"/>
          <p:cNvSpPr/>
          <p:nvPr/>
        </p:nvSpPr>
        <p:spPr>
          <a:xfrm>
            <a:off x="658368" y="1325880"/>
            <a:ext cx="6583680" cy="1234440"/>
          </a:xfrm>
          <a:prstGeom prst="rect">
            <a:avLst/>
          </a:prstGeom>
          <a:noFill/>
        </p:spPr>
        <p:txBody>
          <a:bodyPr wrap="square" lIns="381" tIns="381" rIns="381" bIns="381" rtlCol="0" anchor="ctr">
            <a:normAutofit/>
          </a:bodyPr>
          <a:lstStyle/>
          <a:p>
            <a:pPr marL="0" indent="0" algn="l">
              <a:buNone/>
            </a:pPr>
            <a:r>
              <a:rPr lang="en-US" sz="3800" b="1" dirty="0">
                <a:solidFill>
                  <a:srgbClr val="111827"/>
                </a:solidFill>
                <a:latin typeface="Arial" panose="020B0604020202020204" pitchFamily="34" charset="0"/>
                <a:ea typeface="Arial" panose="020B0604020202020204" pitchFamily="34" charset="-122"/>
                <a:cs typeface="Arial" panose="020B0604020202020204" pitchFamily="34" charset="-120"/>
              </a:rPr>
              <a:t>Spark caching</a:t>
            </a:r>
            <a:endParaRPr lang="en-US" sz="3800" dirty="0"/>
          </a:p>
          <a:p>
            <a:pPr marL="0" indent="0" algn="l">
              <a:buNone/>
            </a:pPr>
            <a:r>
              <a:rPr lang="en-US" sz="3800" b="1" dirty="0">
                <a:solidFill>
                  <a:srgbClr val="111827"/>
                </a:solidFill>
                <a:latin typeface="Arial" panose="020B0604020202020204" pitchFamily="34" charset="0"/>
                <a:ea typeface="Arial" panose="020B0604020202020204" pitchFamily="34" charset="-122"/>
                <a:cs typeface="Arial" panose="020B0604020202020204" pitchFamily="34" charset="-120"/>
              </a:rPr>
              <a:t>is a tradeoff</a:t>
            </a:r>
            <a:endParaRPr lang="en-US" sz="3800" dirty="0"/>
          </a:p>
        </p:txBody>
      </p:sp>
      <p:sp>
        <p:nvSpPr>
          <p:cNvPr id="7" name="Text 5"/>
          <p:cNvSpPr/>
          <p:nvPr/>
        </p:nvSpPr>
        <p:spPr>
          <a:xfrm>
            <a:off x="676656" y="2880360"/>
            <a:ext cx="5852160" cy="512064"/>
          </a:xfrm>
          <a:prstGeom prst="rect">
            <a:avLst/>
          </a:prstGeom>
          <a:noFill/>
        </p:spPr>
        <p:txBody>
          <a:bodyPr wrap="square" lIns="381" tIns="381" rIns="381" bIns="381" rtlCol="0" anchor="ctr">
            <a:normAutofit/>
          </a:bodyPr>
          <a:lstStyle/>
          <a:p>
            <a:pPr marL="0" indent="0" algn="l">
              <a:buNone/>
            </a:pPr>
            <a:r>
              <a:rPr lang="en-US" sz="2000" dirty="0">
                <a:solidFill>
                  <a:srgbClr val="475569"/>
                </a:solidFill>
                <a:latin typeface="Arial" panose="020B0604020202020204" pitchFamily="34" charset="0"/>
                <a:ea typeface="Arial" panose="020B0604020202020204" pitchFamily="34" charset="-122"/>
                <a:cs typeface="Arial" panose="020B0604020202020204" pitchFamily="34" charset="-120"/>
              </a:rPr>
              <a:t>A distributed PageRank experiment on two local Spark workers</a:t>
            </a:r>
            <a:endParaRPr lang="en-US" sz="2000" dirty="0"/>
          </a:p>
        </p:txBody>
      </p:sp>
      <p:sp>
        <p:nvSpPr>
          <p:cNvPr id="8" name="Text 6"/>
          <p:cNvSpPr/>
          <p:nvPr/>
        </p:nvSpPr>
        <p:spPr>
          <a:xfrm>
            <a:off x="676656" y="4005072"/>
            <a:ext cx="1828800" cy="256032"/>
          </a:xfrm>
          <a:prstGeom prst="rect">
            <a:avLst/>
          </a:prstGeom>
          <a:noFill/>
        </p:spPr>
        <p:txBody>
          <a:bodyPr wrap="square" lIns="381" tIns="381" rIns="381" bIns="381" rtlCol="0" anchor="ctr">
            <a:normAutofit/>
          </a:bodyPr>
          <a:lstStyle/>
          <a:p>
            <a:pPr marL="0" indent="0" algn="l">
              <a:buNone/>
            </a:pPr>
            <a:r>
              <a:rPr lang="en-US" sz="1200" b="1" dirty="0">
                <a:solidFill>
                  <a:srgbClr val="2563EB"/>
                </a:solidFill>
                <a:latin typeface="Arial" panose="020B0604020202020204" pitchFamily="34" charset="0"/>
                <a:ea typeface="Arial" panose="020B0604020202020204" pitchFamily="34" charset="-122"/>
                <a:cs typeface="Arial" panose="020B0604020202020204" pitchFamily="34" charset="-120"/>
              </a:rPr>
              <a:t>Research question</a:t>
            </a:r>
            <a:endParaRPr lang="en-US" sz="1200" dirty="0"/>
          </a:p>
        </p:txBody>
      </p:sp>
      <p:sp>
        <p:nvSpPr>
          <p:cNvPr id="9" name="Text 7"/>
          <p:cNvSpPr/>
          <p:nvPr/>
        </p:nvSpPr>
        <p:spPr>
          <a:xfrm>
            <a:off x="676656" y="4325112"/>
            <a:ext cx="5943600" cy="749808"/>
          </a:xfrm>
          <a:prstGeom prst="rect">
            <a:avLst/>
          </a:prstGeom>
          <a:noFill/>
        </p:spPr>
        <p:txBody>
          <a:bodyPr wrap="square" lIns="381" tIns="381" rIns="381" bIns="381" rtlCol="0" anchor="ctr">
            <a:normAutofit/>
          </a:bodyPr>
          <a:lstStyle/>
          <a:p>
            <a:pPr marL="0" indent="0" algn="l">
              <a:buNone/>
            </a:pPr>
            <a:r>
              <a:rPr lang="en-US" sz="2000" b="1" dirty="0">
                <a:solidFill>
                  <a:srgbClr val="1E3A8A"/>
                </a:solidFill>
                <a:latin typeface="Arial" panose="020B0604020202020204" pitchFamily="34" charset="0"/>
                <a:ea typeface="Arial" panose="020B0604020202020204" pitchFamily="34" charset="-122"/>
                <a:cs typeface="Arial" panose="020B0604020202020204" pitchFamily="34" charset="-120"/>
              </a:rPr>
              <a:t>When repeated work reuses the same RDD, when does caching repay its materialization cost?</a:t>
            </a:r>
            <a:endParaRPr lang="en-US" sz="2000" dirty="0"/>
          </a:p>
        </p:txBody>
      </p:sp>
      <p:sp>
        <p:nvSpPr>
          <p:cNvPr id="10" name="Shape 8"/>
          <p:cNvSpPr/>
          <p:nvPr/>
        </p:nvSpPr>
        <p:spPr>
          <a:xfrm>
            <a:off x="676656" y="5577840"/>
            <a:ext cx="1188720" cy="310896"/>
          </a:xfrm>
          <a:prstGeom prst="roundRect">
            <a:avLst>
              <a:gd name="adj" fmla="val 14706"/>
            </a:avLst>
          </a:prstGeom>
          <a:solidFill>
            <a:srgbClr val="DBEAFE"/>
          </a:solidFill>
          <a:ln w="12700">
            <a:solidFill>
              <a:srgbClr val="DBEAFE"/>
            </a:solidFill>
            <a:prstDash val="solid"/>
          </a:ln>
        </p:spPr>
      </p:sp>
      <p:sp>
        <p:nvSpPr>
          <p:cNvPr id="11" name="Text 9"/>
          <p:cNvSpPr/>
          <p:nvPr/>
        </p:nvSpPr>
        <p:spPr>
          <a:xfrm>
            <a:off x="676656" y="5596128"/>
            <a:ext cx="1188720" cy="237744"/>
          </a:xfrm>
          <a:prstGeom prst="rect">
            <a:avLst/>
          </a:prstGeom>
          <a:noFill/>
        </p:spPr>
        <p:txBody>
          <a:bodyPr wrap="square" lIns="381" tIns="381" rIns="381" bIns="381" rtlCol="0" anchor="ctr">
            <a:normAutofit/>
          </a:bodyPr>
          <a:lstStyle/>
          <a:p>
            <a:pPr marL="0" indent="0" algn="ctr">
              <a:buNone/>
            </a:pPr>
            <a:r>
              <a:rPr lang="en-US" sz="1000" b="1" dirty="0">
                <a:solidFill>
                  <a:srgbClr val="2563EB"/>
                </a:solidFill>
                <a:latin typeface="Arial" panose="020B0604020202020204" pitchFamily="34" charset="0"/>
                <a:ea typeface="Arial" panose="020B0604020202020204" pitchFamily="34" charset="-122"/>
                <a:cs typeface="Arial" panose="020B0604020202020204" pitchFamily="34" charset="-120"/>
              </a:rPr>
              <a:t>2 workers</a:t>
            </a:r>
            <a:endParaRPr lang="en-US" sz="1000" dirty="0"/>
          </a:p>
        </p:txBody>
      </p:sp>
      <p:sp>
        <p:nvSpPr>
          <p:cNvPr id="12" name="Shape 10"/>
          <p:cNvSpPr/>
          <p:nvPr/>
        </p:nvSpPr>
        <p:spPr>
          <a:xfrm>
            <a:off x="1993392" y="5577840"/>
            <a:ext cx="1417320" cy="310896"/>
          </a:xfrm>
          <a:prstGeom prst="roundRect">
            <a:avLst>
              <a:gd name="adj" fmla="val 14706"/>
            </a:avLst>
          </a:prstGeom>
          <a:solidFill>
            <a:srgbClr val="DCFCE7"/>
          </a:solidFill>
          <a:ln w="12700">
            <a:solidFill>
              <a:srgbClr val="DCFCE7"/>
            </a:solidFill>
            <a:prstDash val="solid"/>
          </a:ln>
        </p:spPr>
      </p:sp>
      <p:sp>
        <p:nvSpPr>
          <p:cNvPr id="13" name="Text 11"/>
          <p:cNvSpPr/>
          <p:nvPr/>
        </p:nvSpPr>
        <p:spPr>
          <a:xfrm>
            <a:off x="1993392" y="5596128"/>
            <a:ext cx="1417320" cy="237744"/>
          </a:xfrm>
          <a:prstGeom prst="rect">
            <a:avLst/>
          </a:prstGeom>
          <a:noFill/>
        </p:spPr>
        <p:txBody>
          <a:bodyPr wrap="square" lIns="381" tIns="381" rIns="381" bIns="381" rtlCol="0" anchor="ctr">
            <a:normAutofit/>
          </a:bodyPr>
          <a:lstStyle/>
          <a:p>
            <a:pPr marL="0" indent="0" algn="ctr">
              <a:buNone/>
            </a:pPr>
            <a:r>
              <a:rPr lang="en-US" sz="1000" b="1" dirty="0">
                <a:solidFill>
                  <a:srgbClr val="16A34A"/>
                </a:solidFill>
                <a:latin typeface="Arial" panose="020B0604020202020204" pitchFamily="34" charset="0"/>
                <a:ea typeface="Arial" panose="020B0604020202020204" pitchFamily="34" charset="-122"/>
                <a:cs typeface="Arial" panose="020B0604020202020204" pitchFamily="34" charset="-120"/>
              </a:rPr>
              <a:t>6 iterations</a:t>
            </a:r>
            <a:endParaRPr lang="en-US" sz="1000" dirty="0"/>
          </a:p>
        </p:txBody>
      </p:sp>
      <p:sp>
        <p:nvSpPr>
          <p:cNvPr id="14" name="Shape 12"/>
          <p:cNvSpPr/>
          <p:nvPr/>
        </p:nvSpPr>
        <p:spPr>
          <a:xfrm>
            <a:off x="3547872" y="5577840"/>
            <a:ext cx="1417320" cy="310896"/>
          </a:xfrm>
          <a:prstGeom prst="roundRect">
            <a:avLst>
              <a:gd name="adj" fmla="val 14706"/>
            </a:avLst>
          </a:prstGeom>
          <a:solidFill>
            <a:srgbClr val="FEF3C7"/>
          </a:solidFill>
          <a:ln w="12700">
            <a:solidFill>
              <a:srgbClr val="FEF3C7"/>
            </a:solidFill>
            <a:prstDash val="solid"/>
          </a:ln>
        </p:spPr>
      </p:sp>
      <p:sp>
        <p:nvSpPr>
          <p:cNvPr id="15" name="Text 13"/>
          <p:cNvSpPr/>
          <p:nvPr/>
        </p:nvSpPr>
        <p:spPr>
          <a:xfrm>
            <a:off x="3547872" y="5596128"/>
            <a:ext cx="1417320" cy="237744"/>
          </a:xfrm>
          <a:prstGeom prst="rect">
            <a:avLst/>
          </a:prstGeom>
          <a:noFill/>
        </p:spPr>
        <p:txBody>
          <a:bodyPr wrap="square" lIns="381" tIns="381" rIns="381" bIns="381" rtlCol="0" anchor="ctr">
            <a:normAutofit/>
          </a:bodyPr>
          <a:lstStyle/>
          <a:p>
            <a:pPr marL="0" indent="0" algn="ctr">
              <a:buNone/>
            </a:pPr>
            <a:r>
              <a:rPr lang="en-US" sz="1000" b="1" dirty="0">
                <a:solidFill>
                  <a:srgbClr val="D97706"/>
                </a:solidFill>
                <a:latin typeface="Arial" panose="020B0604020202020204" pitchFamily="34" charset="0"/>
                <a:ea typeface="Arial" panose="020B0604020202020204" pitchFamily="34" charset="-122"/>
                <a:cs typeface="Arial" panose="020B0604020202020204" pitchFamily="34" charset="-120"/>
              </a:rPr>
              <a:t>12 runs</a:t>
            </a:r>
            <a:endParaRPr lang="en-US" sz="1000" dirty="0"/>
          </a:p>
        </p:txBody>
      </p:sp>
      <p:sp>
        <p:nvSpPr>
          <p:cNvPr id="25" name="Slide Number Placeholder 0"/>
          <p:cNvSpPr>
            <a:spLocks noGrp="1"/>
          </p:cNvSpPr>
          <p:nvPr>
            <p:ph type="sldNum" sz="quarter" idx="4294967295"/>
          </p:nvPr>
        </p:nvSpPr>
        <p:spPr>
          <a:xfrm>
            <a:off x="11795760" y="6473952"/>
            <a:ext cx="800000" cy="300000"/>
          </a:xfrm>
          <a:prstGeom prst="rect">
            <a:avLst/>
          </a:prstGeom>
        </p:spPr>
        <p:txBody>
          <a:bodyPr/>
          <a:lstStyle>
            <a:lvl1pPr>
              <a:defRPr sz="800">
                <a:solidFill>
                  <a:srgbClr val="64748B"/>
                </a:solidFill>
                <a:latin typeface="Arial" panose="020B0604020202020204"/>
                <a:ea typeface="Arial" panose="020B0604020202020204"/>
                <a:cs typeface="Arial" panose="020B0604020202020204"/>
              </a:defRPr>
            </a:lvl1pPr>
          </a:lstStyle>
          <a:p>
            <a:pPr algn="l"/>
            <a:fld id="{F7021451-1387-4CA6-816F-3879F97B5CBC}" type="slidenum">
              <a:rPr lang="en-US" b="0"/>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411480"/>
            <a:ext cx="2743200" cy="201168"/>
          </a:xfrm>
          <a:prstGeom prst="rect">
            <a:avLst/>
          </a:prstGeom>
          <a:noFill/>
        </p:spPr>
        <p:txBody>
          <a:bodyPr wrap="square" lIns="0" tIns="0" rIns="0" bIns="0" rtlCol="0" anchor="ctr"/>
          <a:lstStyle/>
          <a:p>
            <a:pPr marL="0" indent="0">
              <a:buNone/>
            </a:pPr>
            <a:r>
              <a:rPr lang="en-US" sz="900" b="1" kern="0" spc="120" dirty="0">
                <a:solidFill>
                  <a:srgbClr val="2563EB"/>
                </a:solidFill>
                <a:latin typeface="Arial" panose="020B0604020202020204" pitchFamily="34" charset="0"/>
                <a:ea typeface="Arial" panose="020B0604020202020204" pitchFamily="34" charset="-122"/>
                <a:cs typeface="Arial" panose="020B0604020202020204" pitchFamily="34" charset="-120"/>
              </a:rPr>
              <a:t>SCOPE</a:t>
            </a:r>
            <a:endParaRPr lang="en-US" sz="900" dirty="0"/>
          </a:p>
        </p:txBody>
      </p:sp>
      <p:sp>
        <p:nvSpPr>
          <p:cNvPr id="3" name="Text 1"/>
          <p:cNvSpPr/>
          <p:nvPr/>
        </p:nvSpPr>
        <p:spPr>
          <a:xfrm>
            <a:off x="566928" y="658368"/>
            <a:ext cx="10789920" cy="438912"/>
          </a:xfrm>
          <a:prstGeom prst="rect">
            <a:avLst/>
          </a:prstGeom>
          <a:noFill/>
        </p:spPr>
        <p:txBody>
          <a:bodyPr wrap="square" lIns="0" tIns="0" rIns="0" bIns="0" rtlCol="0" anchor="ctr">
            <a:normAutofit/>
          </a:bodyPr>
          <a:lstStyle/>
          <a:p>
            <a:pPr marL="0" indent="0">
              <a:buNone/>
            </a:pPr>
            <a:r>
              <a:rPr lang="en-US" sz="2600" b="1" dirty="0">
                <a:solidFill>
                  <a:srgbClr val="111827"/>
                </a:solidFill>
                <a:latin typeface="Arial" panose="020B0604020202020204" pitchFamily="34" charset="0"/>
                <a:ea typeface="Arial" panose="020B0604020202020204" pitchFamily="34" charset="-122"/>
                <a:cs typeface="Arial" panose="020B0604020202020204" pitchFamily="34" charset="-120"/>
              </a:rPr>
              <a:t>The project targets four observable requirements</a:t>
            </a:r>
            <a:endParaRPr lang="en-US" sz="2600" dirty="0"/>
          </a:p>
        </p:txBody>
      </p:sp>
      <p:sp>
        <p:nvSpPr>
          <p:cNvPr id="4" name="Shape 2"/>
          <p:cNvSpPr/>
          <p:nvPr/>
        </p:nvSpPr>
        <p:spPr>
          <a:xfrm>
            <a:off x="685800" y="1325880"/>
            <a:ext cx="10789920" cy="841248"/>
          </a:xfrm>
          <a:prstGeom prst="roundRect">
            <a:avLst>
              <a:gd name="adj" fmla="val 6522"/>
            </a:avLst>
          </a:prstGeom>
          <a:solidFill>
            <a:srgbClr val="FFFFFF"/>
          </a:solidFill>
          <a:ln w="12700">
            <a:solidFill>
              <a:srgbClr val="CBD5E1"/>
            </a:solidFill>
            <a:prstDash val="solid"/>
          </a:ln>
        </p:spPr>
      </p:sp>
      <p:sp>
        <p:nvSpPr>
          <p:cNvPr id="5" name="Shape 3"/>
          <p:cNvSpPr/>
          <p:nvPr/>
        </p:nvSpPr>
        <p:spPr>
          <a:xfrm>
            <a:off x="841248" y="1472184"/>
            <a:ext cx="658368" cy="530352"/>
          </a:xfrm>
          <a:prstGeom prst="roundRect">
            <a:avLst>
              <a:gd name="adj" fmla="val 10345"/>
            </a:avLst>
          </a:prstGeom>
          <a:solidFill>
            <a:srgbClr val="DBEAFE"/>
          </a:solidFill>
          <a:ln w="12700">
            <a:solidFill>
              <a:srgbClr val="DBEAFE"/>
            </a:solidFill>
            <a:prstDash val="solid"/>
          </a:ln>
        </p:spPr>
      </p:sp>
      <p:sp>
        <p:nvSpPr>
          <p:cNvPr id="6" name="Text 4"/>
          <p:cNvSpPr/>
          <p:nvPr/>
        </p:nvSpPr>
        <p:spPr>
          <a:xfrm>
            <a:off x="841248" y="1545336"/>
            <a:ext cx="658368" cy="256032"/>
          </a:xfrm>
          <a:prstGeom prst="rect">
            <a:avLst/>
          </a:prstGeom>
          <a:noFill/>
        </p:spPr>
        <p:txBody>
          <a:bodyPr wrap="square" lIns="381" tIns="381" rIns="381" bIns="381" rtlCol="0" anchor="ctr">
            <a:normAutofit/>
          </a:bodyPr>
          <a:lstStyle/>
          <a:p>
            <a:pPr marL="0" indent="0" algn="ctr">
              <a:buNone/>
            </a:pPr>
            <a:r>
              <a:rPr lang="en-US" sz="1300" b="1" dirty="0">
                <a:solidFill>
                  <a:srgbClr val="2563EB"/>
                </a:solidFill>
                <a:latin typeface="Arial" panose="020B0604020202020204" pitchFamily="34" charset="0"/>
                <a:ea typeface="Arial" panose="020B0604020202020204" pitchFamily="34" charset="-122"/>
                <a:cs typeface="Arial" panose="020B0604020202020204" pitchFamily="34" charset="-120"/>
              </a:rPr>
              <a:t>01</a:t>
            </a:r>
            <a:endParaRPr lang="en-US" sz="1300" dirty="0"/>
          </a:p>
        </p:txBody>
      </p:sp>
      <p:sp>
        <p:nvSpPr>
          <p:cNvPr id="7" name="Text 5"/>
          <p:cNvSpPr/>
          <p:nvPr/>
        </p:nvSpPr>
        <p:spPr>
          <a:xfrm>
            <a:off x="1755648" y="1453896"/>
            <a:ext cx="2926080" cy="274320"/>
          </a:xfrm>
          <a:prstGeom prst="rect">
            <a:avLst/>
          </a:prstGeom>
          <a:noFill/>
        </p:spPr>
        <p:txBody>
          <a:bodyPr wrap="square" lIns="381" tIns="381" rIns="381" bIns="381" rtlCol="0" anchor="ctr">
            <a:normAutofit/>
          </a:bodyPr>
          <a:lstStyle/>
          <a:p>
            <a:pPr marL="0" indent="0" algn="l">
              <a:buNone/>
            </a:pPr>
            <a:r>
              <a:rPr lang="en-US" sz="1800" b="1" dirty="0">
                <a:solidFill>
                  <a:srgbClr val="111827"/>
                </a:solidFill>
                <a:latin typeface="Arial" panose="020B0604020202020204" pitchFamily="34" charset="0"/>
                <a:ea typeface="Arial" panose="020B0604020202020204" pitchFamily="34" charset="-122"/>
                <a:cs typeface="Arial" panose="020B0604020202020204" pitchFamily="34" charset="-120"/>
              </a:rPr>
              <a:t>Distributed execution</a:t>
            </a:r>
            <a:endParaRPr lang="en-US" sz="1800" dirty="0"/>
          </a:p>
        </p:txBody>
      </p:sp>
      <p:sp>
        <p:nvSpPr>
          <p:cNvPr id="8" name="Text 6"/>
          <p:cNvSpPr/>
          <p:nvPr/>
        </p:nvSpPr>
        <p:spPr>
          <a:xfrm>
            <a:off x="1755648" y="1764792"/>
            <a:ext cx="8869680" cy="228600"/>
          </a:xfrm>
          <a:prstGeom prst="rect">
            <a:avLst/>
          </a:prstGeom>
          <a:noFill/>
        </p:spPr>
        <p:txBody>
          <a:bodyPr wrap="square" lIns="381" tIns="381" rIns="381" bIns="381" rtlCol="0" anchor="ctr">
            <a:normAutofit/>
          </a:bodyPr>
          <a:lstStyle/>
          <a:p>
            <a:pPr marL="0" indent="0" algn="l">
              <a:buNone/>
            </a:pPr>
            <a:r>
              <a:rPr lang="en-US" sz="1300" dirty="0">
                <a:solidFill>
                  <a:srgbClr val="475569"/>
                </a:solidFill>
                <a:latin typeface="Arial" panose="020B0604020202020204" pitchFamily="34" charset="0"/>
                <a:ea typeface="Arial" panose="020B0604020202020204" pitchFamily="34" charset="-122"/>
                <a:cs typeface="Arial" panose="020B0604020202020204" pitchFamily="34" charset="-120"/>
              </a:rPr>
              <a:t>One driver plus two local Spark workers in local-cluster mode.</a:t>
            </a:r>
            <a:endParaRPr lang="en-US" sz="1300" dirty="0"/>
          </a:p>
        </p:txBody>
      </p:sp>
      <p:sp>
        <p:nvSpPr>
          <p:cNvPr id="9" name="Shape 7"/>
          <p:cNvSpPr/>
          <p:nvPr/>
        </p:nvSpPr>
        <p:spPr>
          <a:xfrm>
            <a:off x="685800" y="2468880"/>
            <a:ext cx="10789920" cy="841248"/>
          </a:xfrm>
          <a:prstGeom prst="roundRect">
            <a:avLst>
              <a:gd name="adj" fmla="val 6522"/>
            </a:avLst>
          </a:prstGeom>
          <a:solidFill>
            <a:srgbClr val="FFFFFF"/>
          </a:solidFill>
          <a:ln w="12700">
            <a:solidFill>
              <a:srgbClr val="CBD5E1"/>
            </a:solidFill>
            <a:prstDash val="solid"/>
          </a:ln>
        </p:spPr>
      </p:sp>
      <p:sp>
        <p:nvSpPr>
          <p:cNvPr id="10" name="Shape 8"/>
          <p:cNvSpPr/>
          <p:nvPr/>
        </p:nvSpPr>
        <p:spPr>
          <a:xfrm>
            <a:off x="841248" y="2615184"/>
            <a:ext cx="658368" cy="530352"/>
          </a:xfrm>
          <a:prstGeom prst="roundRect">
            <a:avLst>
              <a:gd name="adj" fmla="val 10345"/>
            </a:avLst>
          </a:prstGeom>
          <a:solidFill>
            <a:srgbClr val="DCFCE7"/>
          </a:solidFill>
          <a:ln w="12700">
            <a:solidFill>
              <a:srgbClr val="DCFCE7"/>
            </a:solidFill>
            <a:prstDash val="solid"/>
          </a:ln>
        </p:spPr>
      </p:sp>
      <p:sp>
        <p:nvSpPr>
          <p:cNvPr id="11" name="Text 9"/>
          <p:cNvSpPr/>
          <p:nvPr/>
        </p:nvSpPr>
        <p:spPr>
          <a:xfrm>
            <a:off x="841248" y="2688336"/>
            <a:ext cx="658368" cy="256032"/>
          </a:xfrm>
          <a:prstGeom prst="rect">
            <a:avLst/>
          </a:prstGeom>
          <a:noFill/>
        </p:spPr>
        <p:txBody>
          <a:bodyPr wrap="square" lIns="381" tIns="381" rIns="381" bIns="381" rtlCol="0" anchor="ctr">
            <a:normAutofit/>
          </a:bodyPr>
          <a:lstStyle/>
          <a:p>
            <a:pPr marL="0" indent="0" algn="ctr">
              <a:buNone/>
            </a:pPr>
            <a:r>
              <a:rPr lang="en-US" sz="1300" b="1" dirty="0">
                <a:solidFill>
                  <a:srgbClr val="16A34A"/>
                </a:solidFill>
                <a:latin typeface="Arial" panose="020B0604020202020204" pitchFamily="34" charset="0"/>
                <a:ea typeface="Arial" panose="020B0604020202020204" pitchFamily="34" charset="-122"/>
                <a:cs typeface="Arial" panose="020B0604020202020204" pitchFamily="34" charset="-120"/>
              </a:rPr>
              <a:t>02</a:t>
            </a:r>
            <a:endParaRPr lang="en-US" sz="1300" dirty="0"/>
          </a:p>
        </p:txBody>
      </p:sp>
      <p:sp>
        <p:nvSpPr>
          <p:cNvPr id="12" name="Text 10"/>
          <p:cNvSpPr/>
          <p:nvPr/>
        </p:nvSpPr>
        <p:spPr>
          <a:xfrm>
            <a:off x="1755648" y="2596896"/>
            <a:ext cx="2926080" cy="274320"/>
          </a:xfrm>
          <a:prstGeom prst="rect">
            <a:avLst/>
          </a:prstGeom>
          <a:noFill/>
        </p:spPr>
        <p:txBody>
          <a:bodyPr wrap="square" lIns="381" tIns="381" rIns="381" bIns="381" rtlCol="0" anchor="ctr">
            <a:normAutofit/>
          </a:bodyPr>
          <a:lstStyle/>
          <a:p>
            <a:pPr marL="0" indent="0" algn="l">
              <a:buNone/>
            </a:pPr>
            <a:r>
              <a:rPr lang="en-US" sz="1800" b="1" dirty="0">
                <a:solidFill>
                  <a:srgbClr val="111827"/>
                </a:solidFill>
                <a:latin typeface="Arial" panose="020B0604020202020204" pitchFamily="34" charset="0"/>
                <a:ea typeface="Arial" panose="020B0604020202020204" pitchFamily="34" charset="-122"/>
                <a:cs typeface="Arial" panose="020B0604020202020204" pitchFamily="34" charset="-120"/>
              </a:rPr>
              <a:t>Iterative workload</a:t>
            </a:r>
            <a:endParaRPr lang="en-US" sz="1800" dirty="0"/>
          </a:p>
        </p:txBody>
      </p:sp>
      <p:sp>
        <p:nvSpPr>
          <p:cNvPr id="13" name="Text 11"/>
          <p:cNvSpPr/>
          <p:nvPr/>
        </p:nvSpPr>
        <p:spPr>
          <a:xfrm>
            <a:off x="1755648" y="2907792"/>
            <a:ext cx="8869680" cy="228600"/>
          </a:xfrm>
          <a:prstGeom prst="rect">
            <a:avLst/>
          </a:prstGeom>
          <a:noFill/>
        </p:spPr>
        <p:txBody>
          <a:bodyPr wrap="square" lIns="381" tIns="381" rIns="381" bIns="381" rtlCol="0" anchor="ctr">
            <a:normAutofit/>
          </a:bodyPr>
          <a:lstStyle/>
          <a:p>
            <a:pPr marL="0" indent="0" algn="l">
              <a:buNone/>
            </a:pPr>
            <a:r>
              <a:rPr lang="en-US" sz="1300" dirty="0">
                <a:solidFill>
                  <a:srgbClr val="475569"/>
                </a:solidFill>
                <a:latin typeface="Arial" panose="020B0604020202020204" pitchFamily="34" charset="0"/>
                <a:ea typeface="Arial" panose="020B0604020202020204" pitchFamily="34" charset="-122"/>
                <a:cs typeface="Arial" panose="020B0604020202020204" pitchFamily="34" charset="-120"/>
              </a:rPr>
              <a:t>PageRank reuses the same adjacency-list RDD across six iterations.</a:t>
            </a:r>
            <a:endParaRPr lang="en-US" sz="1300" dirty="0"/>
          </a:p>
        </p:txBody>
      </p:sp>
      <p:sp>
        <p:nvSpPr>
          <p:cNvPr id="14" name="Shape 12"/>
          <p:cNvSpPr/>
          <p:nvPr/>
        </p:nvSpPr>
        <p:spPr>
          <a:xfrm>
            <a:off x="685800" y="3611880"/>
            <a:ext cx="10789920" cy="841248"/>
          </a:xfrm>
          <a:prstGeom prst="roundRect">
            <a:avLst>
              <a:gd name="adj" fmla="val 6522"/>
            </a:avLst>
          </a:prstGeom>
          <a:solidFill>
            <a:srgbClr val="FFFFFF"/>
          </a:solidFill>
          <a:ln w="12700">
            <a:solidFill>
              <a:srgbClr val="CBD5E1"/>
            </a:solidFill>
            <a:prstDash val="solid"/>
          </a:ln>
        </p:spPr>
      </p:sp>
      <p:sp>
        <p:nvSpPr>
          <p:cNvPr id="15" name="Shape 13"/>
          <p:cNvSpPr/>
          <p:nvPr/>
        </p:nvSpPr>
        <p:spPr>
          <a:xfrm>
            <a:off x="841248" y="3758184"/>
            <a:ext cx="658368" cy="530352"/>
          </a:xfrm>
          <a:prstGeom prst="roundRect">
            <a:avLst>
              <a:gd name="adj" fmla="val 10345"/>
            </a:avLst>
          </a:prstGeom>
          <a:solidFill>
            <a:srgbClr val="FEF3C7"/>
          </a:solidFill>
          <a:ln w="12700">
            <a:solidFill>
              <a:srgbClr val="FEF3C7"/>
            </a:solidFill>
            <a:prstDash val="solid"/>
          </a:ln>
        </p:spPr>
      </p:sp>
      <p:sp>
        <p:nvSpPr>
          <p:cNvPr id="16" name="Text 14"/>
          <p:cNvSpPr/>
          <p:nvPr/>
        </p:nvSpPr>
        <p:spPr>
          <a:xfrm>
            <a:off x="841248" y="3831336"/>
            <a:ext cx="658368" cy="256032"/>
          </a:xfrm>
          <a:prstGeom prst="rect">
            <a:avLst/>
          </a:prstGeom>
          <a:noFill/>
        </p:spPr>
        <p:txBody>
          <a:bodyPr wrap="square" lIns="381" tIns="381" rIns="381" bIns="381" rtlCol="0" anchor="ctr">
            <a:normAutofit/>
          </a:bodyPr>
          <a:lstStyle/>
          <a:p>
            <a:pPr marL="0" indent="0" algn="ctr">
              <a:buNone/>
            </a:pPr>
            <a:r>
              <a:rPr lang="en-US" sz="1300" b="1" dirty="0">
                <a:solidFill>
                  <a:srgbClr val="D97706"/>
                </a:solidFill>
                <a:latin typeface="Arial" panose="020B0604020202020204" pitchFamily="34" charset="0"/>
                <a:ea typeface="Arial" panose="020B0604020202020204" pitchFamily="34" charset="-122"/>
                <a:cs typeface="Arial" panose="020B0604020202020204" pitchFamily="34" charset="-120"/>
              </a:rPr>
              <a:t>03</a:t>
            </a:r>
            <a:endParaRPr lang="en-US" sz="1300" dirty="0"/>
          </a:p>
        </p:txBody>
      </p:sp>
      <p:sp>
        <p:nvSpPr>
          <p:cNvPr id="17" name="Text 15"/>
          <p:cNvSpPr/>
          <p:nvPr/>
        </p:nvSpPr>
        <p:spPr>
          <a:xfrm>
            <a:off x="1755648" y="3739896"/>
            <a:ext cx="2926080" cy="274320"/>
          </a:xfrm>
          <a:prstGeom prst="rect">
            <a:avLst/>
          </a:prstGeom>
          <a:noFill/>
        </p:spPr>
        <p:txBody>
          <a:bodyPr wrap="square" lIns="381" tIns="381" rIns="381" bIns="381" rtlCol="0" anchor="ctr">
            <a:normAutofit/>
          </a:bodyPr>
          <a:lstStyle/>
          <a:p>
            <a:pPr marL="0" indent="0" algn="l">
              <a:buNone/>
            </a:pPr>
            <a:r>
              <a:rPr lang="en-US" sz="1800" b="1" dirty="0">
                <a:solidFill>
                  <a:srgbClr val="111827"/>
                </a:solidFill>
                <a:latin typeface="Arial" panose="020B0604020202020204" pitchFamily="34" charset="0"/>
                <a:ea typeface="Arial" panose="020B0604020202020204" pitchFamily="34" charset="-122"/>
                <a:cs typeface="Arial" panose="020B0604020202020204" pitchFamily="34" charset="-120"/>
              </a:rPr>
              <a:t>Controlled comparison</a:t>
            </a:r>
            <a:endParaRPr lang="en-US" sz="1800" dirty="0"/>
          </a:p>
        </p:txBody>
      </p:sp>
      <p:sp>
        <p:nvSpPr>
          <p:cNvPr id="18" name="Text 16"/>
          <p:cNvSpPr/>
          <p:nvPr/>
        </p:nvSpPr>
        <p:spPr>
          <a:xfrm>
            <a:off x="1755648" y="4050792"/>
            <a:ext cx="8869680" cy="228600"/>
          </a:xfrm>
          <a:prstGeom prst="rect">
            <a:avLst/>
          </a:prstGeom>
          <a:noFill/>
        </p:spPr>
        <p:txBody>
          <a:bodyPr wrap="square" lIns="381" tIns="381" rIns="381" bIns="381" rtlCol="0" anchor="ctr">
            <a:normAutofit/>
          </a:bodyPr>
          <a:lstStyle/>
          <a:p>
            <a:pPr marL="0" indent="0" algn="l">
              <a:buNone/>
            </a:pPr>
            <a:r>
              <a:rPr lang="en-US" sz="1300" dirty="0">
                <a:solidFill>
                  <a:srgbClr val="475569"/>
                </a:solidFill>
                <a:latin typeface="Arial" panose="020B0604020202020204" pitchFamily="34" charset="0"/>
                <a:ea typeface="Arial" panose="020B0604020202020204" pitchFamily="34" charset="-122"/>
                <a:cs typeface="Arial" panose="020B0604020202020204" pitchFamily="34" charset="-120"/>
              </a:rPr>
              <a:t>Same graph, partitions, workers and iteration count with cache on or off.</a:t>
            </a:r>
            <a:endParaRPr lang="en-US" sz="1300" dirty="0"/>
          </a:p>
        </p:txBody>
      </p:sp>
      <p:sp>
        <p:nvSpPr>
          <p:cNvPr id="19" name="Shape 17"/>
          <p:cNvSpPr/>
          <p:nvPr/>
        </p:nvSpPr>
        <p:spPr>
          <a:xfrm>
            <a:off x="685800" y="4754880"/>
            <a:ext cx="10789920" cy="841248"/>
          </a:xfrm>
          <a:prstGeom prst="roundRect">
            <a:avLst>
              <a:gd name="adj" fmla="val 6522"/>
            </a:avLst>
          </a:prstGeom>
          <a:solidFill>
            <a:srgbClr val="FFFFFF"/>
          </a:solidFill>
          <a:ln w="12700">
            <a:solidFill>
              <a:srgbClr val="CBD5E1"/>
            </a:solidFill>
            <a:prstDash val="solid"/>
          </a:ln>
        </p:spPr>
      </p:sp>
      <p:sp>
        <p:nvSpPr>
          <p:cNvPr id="20" name="Shape 18"/>
          <p:cNvSpPr/>
          <p:nvPr/>
        </p:nvSpPr>
        <p:spPr>
          <a:xfrm>
            <a:off x="841248" y="4901184"/>
            <a:ext cx="658368" cy="530352"/>
          </a:xfrm>
          <a:prstGeom prst="roundRect">
            <a:avLst>
              <a:gd name="adj" fmla="val 10345"/>
            </a:avLst>
          </a:prstGeom>
          <a:solidFill>
            <a:srgbClr val="FCE7F3"/>
          </a:solidFill>
          <a:ln w="12700">
            <a:solidFill>
              <a:srgbClr val="FCE7F3"/>
            </a:solidFill>
            <a:prstDash val="solid"/>
          </a:ln>
        </p:spPr>
      </p:sp>
      <p:sp>
        <p:nvSpPr>
          <p:cNvPr id="21" name="Text 19"/>
          <p:cNvSpPr/>
          <p:nvPr/>
        </p:nvSpPr>
        <p:spPr>
          <a:xfrm>
            <a:off x="841248" y="4974336"/>
            <a:ext cx="658368" cy="256032"/>
          </a:xfrm>
          <a:prstGeom prst="rect">
            <a:avLst/>
          </a:prstGeom>
          <a:noFill/>
        </p:spPr>
        <p:txBody>
          <a:bodyPr wrap="square" lIns="381" tIns="381" rIns="381" bIns="381" rtlCol="0" anchor="ctr">
            <a:normAutofit/>
          </a:bodyPr>
          <a:lstStyle/>
          <a:p>
            <a:pPr marL="0" indent="0" algn="ctr">
              <a:buNone/>
            </a:pPr>
            <a:r>
              <a:rPr lang="en-US" sz="1300" b="1" dirty="0">
                <a:solidFill>
                  <a:srgbClr val="DB2777"/>
                </a:solidFill>
                <a:latin typeface="Arial" panose="020B0604020202020204" pitchFamily="34" charset="0"/>
                <a:ea typeface="Arial" panose="020B0604020202020204" pitchFamily="34" charset="-122"/>
                <a:cs typeface="Arial" panose="020B0604020202020204" pitchFamily="34" charset="-120"/>
              </a:rPr>
              <a:t>04</a:t>
            </a:r>
            <a:endParaRPr lang="en-US" sz="1300" dirty="0"/>
          </a:p>
        </p:txBody>
      </p:sp>
      <p:sp>
        <p:nvSpPr>
          <p:cNvPr id="22" name="Text 20"/>
          <p:cNvSpPr/>
          <p:nvPr/>
        </p:nvSpPr>
        <p:spPr>
          <a:xfrm>
            <a:off x="1755648" y="4882896"/>
            <a:ext cx="2926080" cy="274320"/>
          </a:xfrm>
          <a:prstGeom prst="rect">
            <a:avLst/>
          </a:prstGeom>
          <a:noFill/>
        </p:spPr>
        <p:txBody>
          <a:bodyPr wrap="square" lIns="381" tIns="381" rIns="381" bIns="381" rtlCol="0" anchor="ctr">
            <a:normAutofit/>
          </a:bodyPr>
          <a:lstStyle/>
          <a:p>
            <a:pPr marL="0" indent="0" algn="l">
              <a:buNone/>
            </a:pPr>
            <a:r>
              <a:rPr lang="en-US" sz="1800" b="1" dirty="0">
                <a:solidFill>
                  <a:srgbClr val="111827"/>
                </a:solidFill>
                <a:latin typeface="Arial" panose="020B0604020202020204" pitchFamily="34" charset="0"/>
                <a:ea typeface="Arial" panose="020B0604020202020204" pitchFamily="34" charset="-122"/>
                <a:cs typeface="Arial" panose="020B0604020202020204" pitchFamily="34" charset="-120"/>
              </a:rPr>
              <a:t>Evidence</a:t>
            </a:r>
            <a:endParaRPr lang="en-US" sz="1800" dirty="0"/>
          </a:p>
        </p:txBody>
      </p:sp>
      <p:sp>
        <p:nvSpPr>
          <p:cNvPr id="23" name="Text 21"/>
          <p:cNvSpPr/>
          <p:nvPr/>
        </p:nvSpPr>
        <p:spPr>
          <a:xfrm>
            <a:off x="1755648" y="5193792"/>
            <a:ext cx="8869680" cy="228600"/>
          </a:xfrm>
          <a:prstGeom prst="rect">
            <a:avLst/>
          </a:prstGeom>
          <a:noFill/>
        </p:spPr>
        <p:txBody>
          <a:bodyPr wrap="square" lIns="381" tIns="381" rIns="381" bIns="381" rtlCol="0" anchor="ctr">
            <a:normAutofit/>
          </a:bodyPr>
          <a:lstStyle/>
          <a:p>
            <a:pPr marL="0" indent="0" algn="l">
              <a:buNone/>
            </a:pPr>
            <a:r>
              <a:rPr lang="en-US" sz="1300" dirty="0">
                <a:solidFill>
                  <a:srgbClr val="475569"/>
                </a:solidFill>
                <a:latin typeface="Arial" panose="020B0604020202020204" pitchFamily="34" charset="0"/>
                <a:ea typeface="Arial" panose="020B0604020202020204" pitchFamily="34" charset="-122"/>
                <a:cs typeface="Arial" panose="020B0604020202020204" pitchFamily="34" charset="-120"/>
              </a:rPr>
              <a:t>Logs, Spark UI stages, raw timings, checksum and sequential reference.</a:t>
            </a:r>
            <a:endParaRPr lang="en-US" sz="1300" dirty="0"/>
          </a:p>
        </p:txBody>
      </p:sp>
      <p:sp>
        <p:nvSpPr>
          <p:cNvPr id="24" name="Text 22"/>
          <p:cNvSpPr/>
          <p:nvPr/>
        </p:nvSpPr>
        <p:spPr>
          <a:xfrm>
            <a:off x="713232" y="6062472"/>
            <a:ext cx="10515600" cy="292608"/>
          </a:xfrm>
          <a:prstGeom prst="rect">
            <a:avLst/>
          </a:prstGeom>
          <a:noFill/>
        </p:spPr>
        <p:txBody>
          <a:bodyPr wrap="square" lIns="381" tIns="381" rIns="381" bIns="381" rtlCol="0" anchor="ctr">
            <a:normAutofit/>
          </a:bodyPr>
          <a:lstStyle/>
          <a:p>
            <a:pPr marL="0" indent="0" algn="l">
              <a:buNone/>
            </a:pPr>
            <a:r>
              <a:rPr lang="en-US" sz="1500" i="1" dirty="0">
                <a:solidFill>
                  <a:srgbClr val="475569"/>
                </a:solidFill>
                <a:latin typeface="Arial" panose="020B0604020202020204" pitchFamily="34" charset="0"/>
                <a:ea typeface="Arial" panose="020B0604020202020204" pitchFamily="34" charset="-122"/>
                <a:cs typeface="Arial" panose="020B0604020202020204" pitchFamily="34" charset="-120"/>
              </a:rPr>
              <a:t>The experiment is intentionally small enough to run on one laptop, but still exposes Spark stages, partitions and persistence.</a:t>
            </a:r>
            <a:endParaRPr lang="en-US" sz="1500" dirty="0"/>
          </a:p>
        </p:txBody>
      </p:sp>
      <p:sp>
        <p:nvSpPr>
          <p:cNvPr id="25" name="Slide Number Placeholder 0"/>
          <p:cNvSpPr>
            <a:spLocks noGrp="1"/>
          </p:cNvSpPr>
          <p:nvPr>
            <p:ph type="sldNum" sz="quarter" idx="4294967295"/>
          </p:nvPr>
        </p:nvSpPr>
        <p:spPr>
          <a:xfrm>
            <a:off x="11795760" y="6473952"/>
            <a:ext cx="800000" cy="300000"/>
          </a:xfrm>
          <a:prstGeom prst="rect">
            <a:avLst/>
          </a:prstGeom>
        </p:spPr>
        <p:txBody>
          <a:bodyPr/>
          <a:lstStyle>
            <a:lvl1pPr>
              <a:defRPr sz="800">
                <a:solidFill>
                  <a:srgbClr val="64748B"/>
                </a:solidFill>
                <a:latin typeface="Arial" panose="020B0604020202020204"/>
                <a:ea typeface="Arial" panose="020B0604020202020204"/>
                <a:cs typeface="Arial" panose="020B0604020202020204"/>
              </a:defRPr>
            </a:lvl1pPr>
          </a:lstStyle>
          <a:p>
            <a:pPr algn="l"/>
            <a:fld id="{F7021451-1387-4CA6-816F-3879F97B5CBC}" type="slidenum">
              <a:rPr lang="en-US" b="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411480"/>
            <a:ext cx="2743200" cy="201168"/>
          </a:xfrm>
          <a:prstGeom prst="rect">
            <a:avLst/>
          </a:prstGeom>
          <a:noFill/>
        </p:spPr>
        <p:txBody>
          <a:bodyPr wrap="square" lIns="0" tIns="0" rIns="0" bIns="0" rtlCol="0" anchor="ctr"/>
          <a:lstStyle/>
          <a:p>
            <a:pPr marL="0" indent="0">
              <a:buNone/>
            </a:pPr>
            <a:r>
              <a:rPr lang="en-US" sz="900" b="1" kern="0" spc="120" dirty="0">
                <a:solidFill>
                  <a:srgbClr val="2563EB"/>
                </a:solidFill>
                <a:latin typeface="Arial" panose="020B0604020202020204" pitchFamily="34" charset="0"/>
                <a:ea typeface="Arial" panose="020B0604020202020204" pitchFamily="34" charset="-122"/>
                <a:cs typeface="Arial" panose="020B0604020202020204" pitchFamily="34" charset="-120"/>
              </a:rPr>
              <a:t>ARCHITECTURE</a:t>
            </a:r>
            <a:endParaRPr lang="en-US" sz="900" dirty="0"/>
          </a:p>
        </p:txBody>
      </p:sp>
      <p:sp>
        <p:nvSpPr>
          <p:cNvPr id="3" name="Text 1"/>
          <p:cNvSpPr/>
          <p:nvPr/>
        </p:nvSpPr>
        <p:spPr>
          <a:xfrm>
            <a:off x="566928" y="658368"/>
            <a:ext cx="10789920" cy="438912"/>
          </a:xfrm>
          <a:prstGeom prst="rect">
            <a:avLst/>
          </a:prstGeom>
          <a:noFill/>
        </p:spPr>
        <p:txBody>
          <a:bodyPr wrap="square" lIns="0" tIns="0" rIns="0" bIns="0" rtlCol="0" anchor="ctr">
            <a:normAutofit/>
          </a:bodyPr>
          <a:lstStyle/>
          <a:p>
            <a:pPr marL="0" indent="0">
              <a:buNone/>
            </a:pPr>
            <a:r>
              <a:rPr lang="en-US" sz="2600" b="1" dirty="0">
                <a:solidFill>
                  <a:srgbClr val="111827"/>
                </a:solidFill>
                <a:latin typeface="Arial" panose="020B0604020202020204" pitchFamily="34" charset="0"/>
                <a:ea typeface="Arial" panose="020B0604020202020204" pitchFamily="34" charset="-122"/>
                <a:cs typeface="Arial" panose="020B0604020202020204" pitchFamily="34" charset="-120"/>
              </a:rPr>
              <a:t>One shared RDD feeds repeated stages</a:t>
            </a:r>
            <a:endParaRPr lang="en-US" sz="2600" dirty="0"/>
          </a:p>
        </p:txBody>
      </p:sp>
      <p:sp>
        <p:nvSpPr>
          <p:cNvPr id="4" name="Shape 2"/>
          <p:cNvSpPr/>
          <p:nvPr/>
        </p:nvSpPr>
        <p:spPr>
          <a:xfrm>
            <a:off x="685800" y="2148840"/>
            <a:ext cx="1874520" cy="658368"/>
          </a:xfrm>
          <a:prstGeom prst="roundRect">
            <a:avLst>
              <a:gd name="adj" fmla="val 8333"/>
            </a:avLst>
          </a:prstGeom>
          <a:solidFill>
            <a:srgbClr val="E5E7EB"/>
          </a:solidFill>
          <a:ln w="13970">
            <a:solidFill>
              <a:srgbClr val="111827"/>
            </a:solidFill>
            <a:prstDash val="solid"/>
          </a:ln>
        </p:spPr>
      </p:sp>
      <p:sp>
        <p:nvSpPr>
          <p:cNvPr id="5" name="Text 3"/>
          <p:cNvSpPr/>
          <p:nvPr/>
        </p:nvSpPr>
        <p:spPr>
          <a:xfrm>
            <a:off x="758952" y="2203704"/>
            <a:ext cx="1728216" cy="548640"/>
          </a:xfrm>
          <a:prstGeom prst="rect">
            <a:avLst/>
          </a:prstGeom>
          <a:noFill/>
        </p:spPr>
        <p:txBody>
          <a:bodyPr wrap="square" lIns="381" tIns="381" rIns="381" bIns="381" rtlCol="0" anchor="ctr">
            <a:normAutofit/>
          </a:bodyPr>
          <a:lstStyle/>
          <a:p>
            <a:pPr marL="0" indent="0" algn="ctr">
              <a:buNone/>
            </a:pPr>
            <a:r>
              <a:rPr lang="en-US" sz="1600" b="1" dirty="0">
                <a:solidFill>
                  <a:srgbClr val="111827"/>
                </a:solidFill>
                <a:latin typeface="Arial" panose="020B0604020202020204" pitchFamily="34" charset="0"/>
                <a:ea typeface="Arial" panose="020B0604020202020204" pitchFamily="34" charset="-122"/>
                <a:cs typeface="Arial" panose="020B0604020202020204" pitchFamily="34" charset="-120"/>
              </a:rPr>
              <a:t>Deterministic</a:t>
            </a:r>
            <a:endParaRPr lang="en-US" sz="1600" dirty="0"/>
          </a:p>
          <a:p>
            <a:pPr marL="0" indent="0" algn="ctr">
              <a:buNone/>
            </a:pPr>
            <a:r>
              <a:rPr lang="en-US" sz="1600" b="1" dirty="0">
                <a:solidFill>
                  <a:srgbClr val="111827"/>
                </a:solidFill>
                <a:latin typeface="Arial" panose="020B0604020202020204" pitchFamily="34" charset="0"/>
                <a:ea typeface="Arial" panose="020B0604020202020204" pitchFamily="34" charset="-122"/>
                <a:cs typeface="Arial" panose="020B0604020202020204" pitchFamily="34" charset="-120"/>
              </a:rPr>
              <a:t>edge list</a:t>
            </a:r>
            <a:endParaRPr lang="en-US" sz="1600" dirty="0"/>
          </a:p>
        </p:txBody>
      </p:sp>
      <p:sp>
        <p:nvSpPr>
          <p:cNvPr id="6" name="Shape 4"/>
          <p:cNvSpPr/>
          <p:nvPr/>
        </p:nvSpPr>
        <p:spPr>
          <a:xfrm>
            <a:off x="3749040" y="2148840"/>
            <a:ext cx="2057400" cy="658368"/>
          </a:xfrm>
          <a:prstGeom prst="roundRect">
            <a:avLst>
              <a:gd name="adj" fmla="val 8333"/>
            </a:avLst>
          </a:prstGeom>
          <a:solidFill>
            <a:srgbClr val="DBEAFE"/>
          </a:solidFill>
          <a:ln w="13970">
            <a:solidFill>
              <a:srgbClr val="2563EB"/>
            </a:solidFill>
            <a:prstDash val="solid"/>
          </a:ln>
        </p:spPr>
      </p:sp>
      <p:sp>
        <p:nvSpPr>
          <p:cNvPr id="7" name="Text 5"/>
          <p:cNvSpPr/>
          <p:nvPr/>
        </p:nvSpPr>
        <p:spPr>
          <a:xfrm>
            <a:off x="3822192" y="2203704"/>
            <a:ext cx="1911096" cy="548640"/>
          </a:xfrm>
          <a:prstGeom prst="rect">
            <a:avLst/>
          </a:prstGeom>
          <a:noFill/>
        </p:spPr>
        <p:txBody>
          <a:bodyPr wrap="square" lIns="381" tIns="381" rIns="381" bIns="381" rtlCol="0" anchor="ctr">
            <a:normAutofit/>
          </a:bodyPr>
          <a:lstStyle/>
          <a:p>
            <a:pPr marL="0" indent="0" algn="ctr">
              <a:buNone/>
            </a:pPr>
            <a:r>
              <a:rPr lang="en-US" sz="1800" b="1" dirty="0">
                <a:solidFill>
                  <a:srgbClr val="111827"/>
                </a:solidFill>
                <a:latin typeface="Arial" panose="020B0604020202020204" pitchFamily="34" charset="0"/>
                <a:ea typeface="Arial" panose="020B0604020202020204" pitchFamily="34" charset="-122"/>
                <a:cs typeface="Arial" panose="020B0604020202020204" pitchFamily="34" charset="-120"/>
              </a:rPr>
              <a:t>Spark driver</a:t>
            </a:r>
            <a:endParaRPr lang="en-US" sz="1800" dirty="0"/>
          </a:p>
        </p:txBody>
      </p:sp>
      <p:sp>
        <p:nvSpPr>
          <p:cNvPr id="8" name="Shape 6"/>
          <p:cNvSpPr/>
          <p:nvPr/>
        </p:nvSpPr>
        <p:spPr>
          <a:xfrm>
            <a:off x="7452360" y="1965960"/>
            <a:ext cx="1874520" cy="640080"/>
          </a:xfrm>
          <a:prstGeom prst="roundRect">
            <a:avLst>
              <a:gd name="adj" fmla="val 8571"/>
            </a:avLst>
          </a:prstGeom>
          <a:solidFill>
            <a:srgbClr val="DCFCE7"/>
          </a:solidFill>
          <a:ln w="13970">
            <a:solidFill>
              <a:srgbClr val="16A34A"/>
            </a:solidFill>
            <a:prstDash val="solid"/>
          </a:ln>
        </p:spPr>
      </p:sp>
      <p:sp>
        <p:nvSpPr>
          <p:cNvPr id="9" name="Text 7"/>
          <p:cNvSpPr/>
          <p:nvPr/>
        </p:nvSpPr>
        <p:spPr>
          <a:xfrm>
            <a:off x="7525512" y="2020824"/>
            <a:ext cx="1728216" cy="530352"/>
          </a:xfrm>
          <a:prstGeom prst="rect">
            <a:avLst/>
          </a:prstGeom>
          <a:noFill/>
        </p:spPr>
        <p:txBody>
          <a:bodyPr wrap="square" lIns="381" tIns="381" rIns="381" bIns="381" rtlCol="0" anchor="ctr">
            <a:normAutofit/>
          </a:bodyPr>
          <a:lstStyle/>
          <a:p>
            <a:pPr marL="0" indent="0" algn="ctr">
              <a:buNone/>
            </a:pPr>
            <a:r>
              <a:rPr lang="en-US" sz="1500" b="1" dirty="0">
                <a:solidFill>
                  <a:srgbClr val="111827"/>
                </a:solidFill>
                <a:latin typeface="Arial" panose="020B0604020202020204" pitchFamily="34" charset="0"/>
                <a:ea typeface="Arial" panose="020B0604020202020204" pitchFamily="34" charset="-122"/>
                <a:cs typeface="Arial" panose="020B0604020202020204" pitchFamily="34" charset="-120"/>
              </a:rPr>
              <a:t>Worker 1</a:t>
            </a:r>
            <a:endParaRPr lang="en-US" sz="1500" dirty="0"/>
          </a:p>
          <a:p>
            <a:pPr marL="0" indent="0" algn="ctr">
              <a:buNone/>
            </a:pPr>
            <a:r>
              <a:rPr lang="en-US" sz="1500" b="1" dirty="0">
                <a:solidFill>
                  <a:srgbClr val="111827"/>
                </a:solidFill>
                <a:latin typeface="Arial" panose="020B0604020202020204" pitchFamily="34" charset="0"/>
                <a:ea typeface="Arial" panose="020B0604020202020204" pitchFamily="34" charset="-122"/>
                <a:cs typeface="Arial" panose="020B0604020202020204" pitchFamily="34" charset="-120"/>
              </a:rPr>
              <a:t>Executor</a:t>
            </a:r>
            <a:endParaRPr lang="en-US" sz="1500" dirty="0"/>
          </a:p>
        </p:txBody>
      </p:sp>
      <p:sp>
        <p:nvSpPr>
          <p:cNvPr id="10" name="Shape 8"/>
          <p:cNvSpPr/>
          <p:nvPr/>
        </p:nvSpPr>
        <p:spPr>
          <a:xfrm>
            <a:off x="7452360" y="3154680"/>
            <a:ext cx="1874520" cy="640080"/>
          </a:xfrm>
          <a:prstGeom prst="roundRect">
            <a:avLst>
              <a:gd name="adj" fmla="val 8571"/>
            </a:avLst>
          </a:prstGeom>
          <a:solidFill>
            <a:srgbClr val="DCFCE7"/>
          </a:solidFill>
          <a:ln w="13970">
            <a:solidFill>
              <a:srgbClr val="16A34A"/>
            </a:solidFill>
            <a:prstDash val="solid"/>
          </a:ln>
        </p:spPr>
      </p:sp>
      <p:sp>
        <p:nvSpPr>
          <p:cNvPr id="11" name="Text 9"/>
          <p:cNvSpPr/>
          <p:nvPr/>
        </p:nvSpPr>
        <p:spPr>
          <a:xfrm>
            <a:off x="7525512" y="3209544"/>
            <a:ext cx="1728216" cy="530352"/>
          </a:xfrm>
          <a:prstGeom prst="rect">
            <a:avLst/>
          </a:prstGeom>
          <a:noFill/>
        </p:spPr>
        <p:txBody>
          <a:bodyPr wrap="square" lIns="381" tIns="381" rIns="381" bIns="381" rtlCol="0" anchor="ctr">
            <a:normAutofit/>
          </a:bodyPr>
          <a:lstStyle/>
          <a:p>
            <a:pPr marL="0" indent="0" algn="ctr">
              <a:buNone/>
            </a:pPr>
            <a:r>
              <a:rPr lang="en-US" sz="1500" b="1" dirty="0">
                <a:solidFill>
                  <a:srgbClr val="111827"/>
                </a:solidFill>
                <a:latin typeface="Arial" panose="020B0604020202020204" pitchFamily="34" charset="0"/>
                <a:ea typeface="Arial" panose="020B0604020202020204" pitchFamily="34" charset="-122"/>
                <a:cs typeface="Arial" panose="020B0604020202020204" pitchFamily="34" charset="-120"/>
              </a:rPr>
              <a:t>Worker 2</a:t>
            </a:r>
            <a:endParaRPr lang="en-US" sz="1500" dirty="0"/>
          </a:p>
          <a:p>
            <a:pPr marL="0" indent="0" algn="ctr">
              <a:buNone/>
            </a:pPr>
            <a:r>
              <a:rPr lang="en-US" sz="1500" b="1" dirty="0">
                <a:solidFill>
                  <a:srgbClr val="111827"/>
                </a:solidFill>
                <a:latin typeface="Arial" panose="020B0604020202020204" pitchFamily="34" charset="0"/>
                <a:ea typeface="Arial" panose="020B0604020202020204" pitchFamily="34" charset="-122"/>
                <a:cs typeface="Arial" panose="020B0604020202020204" pitchFamily="34" charset="-120"/>
              </a:rPr>
              <a:t>Executor</a:t>
            </a:r>
            <a:endParaRPr lang="en-US" sz="1500" dirty="0"/>
          </a:p>
        </p:txBody>
      </p:sp>
      <p:sp>
        <p:nvSpPr>
          <p:cNvPr id="12" name="Shape 10"/>
          <p:cNvSpPr/>
          <p:nvPr/>
        </p:nvSpPr>
        <p:spPr>
          <a:xfrm>
            <a:off x="3749040" y="4251960"/>
            <a:ext cx="2057400" cy="658368"/>
          </a:xfrm>
          <a:prstGeom prst="roundRect">
            <a:avLst>
              <a:gd name="adj" fmla="val 8333"/>
            </a:avLst>
          </a:prstGeom>
          <a:solidFill>
            <a:srgbClr val="FEF3C7"/>
          </a:solidFill>
          <a:ln w="13970">
            <a:solidFill>
              <a:srgbClr val="D97706"/>
            </a:solidFill>
            <a:prstDash val="solid"/>
          </a:ln>
        </p:spPr>
      </p:sp>
      <p:sp>
        <p:nvSpPr>
          <p:cNvPr id="13" name="Text 11"/>
          <p:cNvSpPr/>
          <p:nvPr/>
        </p:nvSpPr>
        <p:spPr>
          <a:xfrm>
            <a:off x="3822192" y="4306824"/>
            <a:ext cx="1911096" cy="548640"/>
          </a:xfrm>
          <a:prstGeom prst="rect">
            <a:avLst/>
          </a:prstGeom>
          <a:noFill/>
        </p:spPr>
        <p:txBody>
          <a:bodyPr wrap="square" lIns="381" tIns="381" rIns="381" bIns="381" rtlCol="0" anchor="ctr">
            <a:normAutofit/>
          </a:bodyPr>
          <a:lstStyle/>
          <a:p>
            <a:pPr marL="0" indent="0" algn="ctr">
              <a:buNone/>
            </a:pPr>
            <a:r>
              <a:rPr lang="en-US" sz="1600" b="1" dirty="0">
                <a:solidFill>
                  <a:srgbClr val="111827"/>
                </a:solidFill>
                <a:latin typeface="Arial" panose="020B0604020202020204" pitchFamily="34" charset="0"/>
                <a:ea typeface="Arial" panose="020B0604020202020204" pitchFamily="34" charset="-122"/>
                <a:cs typeface="Arial" panose="020B0604020202020204" pitchFamily="34" charset="-120"/>
              </a:rPr>
              <a:t>links RDD</a:t>
            </a:r>
            <a:endParaRPr lang="en-US" sz="1600" dirty="0"/>
          </a:p>
          <a:p>
            <a:pPr marL="0" indent="0" algn="ctr">
              <a:buNone/>
            </a:pPr>
            <a:r>
              <a:rPr lang="en-US" sz="1600" b="1" dirty="0">
                <a:solidFill>
                  <a:srgbClr val="111827"/>
                </a:solidFill>
                <a:latin typeface="Arial" panose="020B0604020202020204" pitchFamily="34" charset="0"/>
                <a:ea typeface="Arial" panose="020B0604020202020204" pitchFamily="34" charset="-122"/>
                <a:cs typeface="Arial" panose="020B0604020202020204" pitchFamily="34" charset="-120"/>
              </a:rPr>
              <a:t>MEMORY_ONLY</a:t>
            </a:r>
            <a:endParaRPr lang="en-US" sz="1600" dirty="0"/>
          </a:p>
        </p:txBody>
      </p:sp>
      <p:sp>
        <p:nvSpPr>
          <p:cNvPr id="14" name="Shape 12"/>
          <p:cNvSpPr/>
          <p:nvPr/>
        </p:nvSpPr>
        <p:spPr>
          <a:xfrm>
            <a:off x="7452360" y="4251960"/>
            <a:ext cx="1874520" cy="658368"/>
          </a:xfrm>
          <a:prstGeom prst="roundRect">
            <a:avLst>
              <a:gd name="adj" fmla="val 8333"/>
            </a:avLst>
          </a:prstGeom>
          <a:solidFill>
            <a:srgbClr val="FCE7F3"/>
          </a:solidFill>
          <a:ln w="13970">
            <a:solidFill>
              <a:srgbClr val="DB2777"/>
            </a:solidFill>
            <a:prstDash val="solid"/>
          </a:ln>
        </p:spPr>
      </p:sp>
      <p:sp>
        <p:nvSpPr>
          <p:cNvPr id="15" name="Text 13"/>
          <p:cNvSpPr/>
          <p:nvPr/>
        </p:nvSpPr>
        <p:spPr>
          <a:xfrm>
            <a:off x="7525512" y="4306824"/>
            <a:ext cx="1728216" cy="548640"/>
          </a:xfrm>
          <a:prstGeom prst="rect">
            <a:avLst/>
          </a:prstGeom>
          <a:noFill/>
        </p:spPr>
        <p:txBody>
          <a:bodyPr wrap="square" lIns="381" tIns="381" rIns="381" bIns="381" rtlCol="0" anchor="ctr">
            <a:normAutofit/>
          </a:bodyPr>
          <a:lstStyle/>
          <a:p>
            <a:pPr marL="0" indent="0" algn="ctr">
              <a:buNone/>
            </a:pPr>
            <a:r>
              <a:rPr lang="en-US" sz="1500" b="1" dirty="0">
                <a:solidFill>
                  <a:srgbClr val="111827"/>
                </a:solidFill>
                <a:latin typeface="Arial" panose="020B0604020202020204" pitchFamily="34" charset="0"/>
                <a:ea typeface="Arial" panose="020B0604020202020204" pitchFamily="34" charset="-122"/>
                <a:cs typeface="Arial" panose="020B0604020202020204" pitchFamily="34" charset="-120"/>
              </a:rPr>
              <a:t>Metrics +</a:t>
            </a:r>
            <a:endParaRPr lang="en-US" sz="1500" dirty="0"/>
          </a:p>
          <a:p>
            <a:pPr marL="0" indent="0" algn="ctr">
              <a:buNone/>
            </a:pPr>
            <a:r>
              <a:rPr lang="en-US" sz="1500" b="1" dirty="0">
                <a:solidFill>
                  <a:srgbClr val="111827"/>
                </a:solidFill>
                <a:latin typeface="Arial" panose="020B0604020202020204" pitchFamily="34" charset="0"/>
                <a:ea typeface="Arial" panose="020B0604020202020204" pitchFamily="34" charset="-122"/>
                <a:cs typeface="Arial" panose="020B0604020202020204" pitchFamily="34" charset="-120"/>
              </a:rPr>
              <a:t>rank output</a:t>
            </a:r>
            <a:endParaRPr lang="en-US" sz="1500" dirty="0"/>
          </a:p>
        </p:txBody>
      </p:sp>
      <p:sp>
        <p:nvSpPr>
          <p:cNvPr id="16" name="Shape 14"/>
          <p:cNvSpPr/>
          <p:nvPr/>
        </p:nvSpPr>
        <p:spPr>
          <a:xfrm>
            <a:off x="2560320" y="2468880"/>
            <a:ext cx="1188720" cy="0"/>
          </a:xfrm>
          <a:prstGeom prst="line">
            <a:avLst/>
          </a:prstGeom>
          <a:noFill/>
          <a:ln w="19050">
            <a:solidFill>
              <a:srgbClr val="475569"/>
            </a:solidFill>
            <a:prstDash val="solid"/>
            <a:headEnd type="none"/>
            <a:tailEnd type="triangle"/>
          </a:ln>
        </p:spPr>
      </p:sp>
      <p:sp>
        <p:nvSpPr>
          <p:cNvPr id="17" name="Shape 15"/>
          <p:cNvSpPr/>
          <p:nvPr/>
        </p:nvSpPr>
        <p:spPr>
          <a:xfrm>
            <a:off x="5806440" y="2240280"/>
            <a:ext cx="1645920" cy="45720"/>
          </a:xfrm>
          <a:prstGeom prst="line">
            <a:avLst/>
          </a:prstGeom>
          <a:noFill/>
          <a:ln w="19050">
            <a:solidFill>
              <a:srgbClr val="475569"/>
            </a:solidFill>
            <a:prstDash val="solid"/>
            <a:headEnd type="none"/>
            <a:tailEnd type="triangle"/>
          </a:ln>
        </p:spPr>
      </p:sp>
      <p:sp>
        <p:nvSpPr>
          <p:cNvPr id="18" name="Shape 16"/>
          <p:cNvSpPr/>
          <p:nvPr/>
        </p:nvSpPr>
        <p:spPr>
          <a:xfrm>
            <a:off x="5806440" y="2578608"/>
            <a:ext cx="1645920" cy="896112"/>
          </a:xfrm>
          <a:prstGeom prst="line">
            <a:avLst/>
          </a:prstGeom>
          <a:noFill/>
          <a:ln w="19050">
            <a:solidFill>
              <a:srgbClr val="475569"/>
            </a:solidFill>
            <a:prstDash val="solid"/>
            <a:headEnd type="none"/>
            <a:tailEnd type="triangle"/>
          </a:ln>
        </p:spPr>
      </p:sp>
      <p:sp>
        <p:nvSpPr>
          <p:cNvPr id="19" name="Shape 17"/>
          <p:cNvSpPr/>
          <p:nvPr/>
        </p:nvSpPr>
        <p:spPr>
          <a:xfrm>
            <a:off x="4773168" y="2834640"/>
            <a:ext cx="0" cy="1417320"/>
          </a:xfrm>
          <a:prstGeom prst="line">
            <a:avLst/>
          </a:prstGeom>
          <a:noFill/>
          <a:ln w="19050">
            <a:solidFill>
              <a:srgbClr val="475569"/>
            </a:solidFill>
            <a:prstDash val="solid"/>
            <a:headEnd type="none"/>
            <a:tailEnd type="triangle"/>
          </a:ln>
        </p:spPr>
      </p:sp>
      <p:sp>
        <p:nvSpPr>
          <p:cNvPr id="20" name="Shape 18"/>
          <p:cNvSpPr/>
          <p:nvPr/>
        </p:nvSpPr>
        <p:spPr>
          <a:xfrm>
            <a:off x="5806440" y="4572000"/>
            <a:ext cx="1645920" cy="0"/>
          </a:xfrm>
          <a:prstGeom prst="line">
            <a:avLst/>
          </a:prstGeom>
          <a:noFill/>
          <a:ln w="19050">
            <a:solidFill>
              <a:srgbClr val="475569"/>
            </a:solidFill>
            <a:prstDash val="solid"/>
            <a:headEnd type="none"/>
            <a:tailEnd type="triangle"/>
          </a:ln>
        </p:spPr>
      </p:sp>
      <p:sp>
        <p:nvSpPr>
          <p:cNvPr id="21" name="Shape 19"/>
          <p:cNvSpPr/>
          <p:nvPr/>
        </p:nvSpPr>
        <p:spPr>
          <a:xfrm>
            <a:off x="731520" y="5440680"/>
            <a:ext cx="2011680" cy="310896"/>
          </a:xfrm>
          <a:prstGeom prst="roundRect">
            <a:avLst>
              <a:gd name="adj" fmla="val 14706"/>
            </a:avLst>
          </a:prstGeom>
          <a:solidFill>
            <a:srgbClr val="E5E7EB"/>
          </a:solidFill>
          <a:ln w="12700">
            <a:solidFill>
              <a:srgbClr val="E5E7EB"/>
            </a:solidFill>
            <a:prstDash val="solid"/>
          </a:ln>
        </p:spPr>
      </p:sp>
      <p:sp>
        <p:nvSpPr>
          <p:cNvPr id="22" name="Text 20"/>
          <p:cNvSpPr/>
          <p:nvPr/>
        </p:nvSpPr>
        <p:spPr>
          <a:xfrm>
            <a:off x="731520" y="5458968"/>
            <a:ext cx="2011680" cy="237744"/>
          </a:xfrm>
          <a:prstGeom prst="rect">
            <a:avLst/>
          </a:prstGeom>
          <a:noFill/>
        </p:spPr>
        <p:txBody>
          <a:bodyPr wrap="square" lIns="381" tIns="381" rIns="381" bIns="381" rtlCol="0" anchor="ctr">
            <a:normAutofit/>
          </a:bodyPr>
          <a:lstStyle/>
          <a:p>
            <a:pPr marL="0" indent="0" algn="ctr">
              <a:buNone/>
            </a:pPr>
            <a:r>
              <a:rPr lang="en-US" sz="1000" b="1" dirty="0">
                <a:solidFill>
                  <a:srgbClr val="111827"/>
                </a:solidFill>
                <a:latin typeface="Arial" panose="020B0604020202020204" pitchFamily="34" charset="0"/>
                <a:ea typeface="Arial" panose="020B0604020202020204" pitchFamily="34" charset="-122"/>
                <a:cs typeface="Arial" panose="020B0604020202020204" pitchFamily="34" charset="-120"/>
              </a:rPr>
              <a:t>same input each run</a:t>
            </a:r>
            <a:endParaRPr lang="en-US" sz="1000" dirty="0"/>
          </a:p>
        </p:txBody>
      </p:sp>
      <p:sp>
        <p:nvSpPr>
          <p:cNvPr id="23" name="Shape 21"/>
          <p:cNvSpPr/>
          <p:nvPr/>
        </p:nvSpPr>
        <p:spPr>
          <a:xfrm>
            <a:off x="3246120" y="5440680"/>
            <a:ext cx="2423160" cy="310896"/>
          </a:xfrm>
          <a:prstGeom prst="roundRect">
            <a:avLst>
              <a:gd name="adj" fmla="val 14706"/>
            </a:avLst>
          </a:prstGeom>
          <a:solidFill>
            <a:srgbClr val="FEF3C7"/>
          </a:solidFill>
          <a:ln w="12700">
            <a:solidFill>
              <a:srgbClr val="FEF3C7"/>
            </a:solidFill>
            <a:prstDash val="solid"/>
          </a:ln>
        </p:spPr>
      </p:sp>
      <p:sp>
        <p:nvSpPr>
          <p:cNvPr id="24" name="Text 22"/>
          <p:cNvSpPr/>
          <p:nvPr/>
        </p:nvSpPr>
        <p:spPr>
          <a:xfrm>
            <a:off x="3246120" y="5458968"/>
            <a:ext cx="2423160" cy="237744"/>
          </a:xfrm>
          <a:prstGeom prst="rect">
            <a:avLst/>
          </a:prstGeom>
          <a:noFill/>
        </p:spPr>
        <p:txBody>
          <a:bodyPr wrap="square" lIns="381" tIns="381" rIns="381" bIns="381" rtlCol="0" anchor="ctr">
            <a:normAutofit/>
          </a:bodyPr>
          <a:lstStyle/>
          <a:p>
            <a:pPr marL="0" indent="0" algn="ctr">
              <a:buNone/>
            </a:pPr>
            <a:r>
              <a:rPr lang="en-US" sz="1000" b="1" dirty="0">
                <a:solidFill>
                  <a:srgbClr val="D97706"/>
                </a:solidFill>
                <a:latin typeface="Arial" panose="020B0604020202020204" pitchFamily="34" charset="0"/>
                <a:ea typeface="Arial" panose="020B0604020202020204" pitchFamily="34" charset="-122"/>
                <a:cs typeface="Arial" panose="020B0604020202020204" pitchFamily="34" charset="-120"/>
              </a:rPr>
              <a:t>cache toggle</a:t>
            </a:r>
            <a:endParaRPr lang="en-US" sz="1000" dirty="0"/>
          </a:p>
        </p:txBody>
      </p:sp>
      <p:sp>
        <p:nvSpPr>
          <p:cNvPr id="25" name="Shape 23"/>
          <p:cNvSpPr/>
          <p:nvPr/>
        </p:nvSpPr>
        <p:spPr>
          <a:xfrm>
            <a:off x="6263640" y="5440680"/>
            <a:ext cx="2423160" cy="310896"/>
          </a:xfrm>
          <a:prstGeom prst="roundRect">
            <a:avLst>
              <a:gd name="adj" fmla="val 14706"/>
            </a:avLst>
          </a:prstGeom>
          <a:solidFill>
            <a:srgbClr val="DBEAFE"/>
          </a:solidFill>
          <a:ln w="12700">
            <a:solidFill>
              <a:srgbClr val="DBEAFE"/>
            </a:solidFill>
            <a:prstDash val="solid"/>
          </a:ln>
        </p:spPr>
      </p:sp>
      <p:sp>
        <p:nvSpPr>
          <p:cNvPr id="26" name="Text 24"/>
          <p:cNvSpPr/>
          <p:nvPr/>
        </p:nvSpPr>
        <p:spPr>
          <a:xfrm>
            <a:off x="6263640" y="5458968"/>
            <a:ext cx="2423160" cy="237744"/>
          </a:xfrm>
          <a:prstGeom prst="rect">
            <a:avLst/>
          </a:prstGeom>
          <a:noFill/>
        </p:spPr>
        <p:txBody>
          <a:bodyPr wrap="square" lIns="381" tIns="381" rIns="381" bIns="381" rtlCol="0" anchor="ctr">
            <a:normAutofit/>
          </a:bodyPr>
          <a:lstStyle/>
          <a:p>
            <a:pPr marL="0" indent="0" algn="ctr">
              <a:buNone/>
            </a:pPr>
            <a:r>
              <a:rPr lang="en-US" sz="1000" b="1" dirty="0">
                <a:solidFill>
                  <a:srgbClr val="2563EB"/>
                </a:solidFill>
                <a:latin typeface="Arial" panose="020B0604020202020204" pitchFamily="34" charset="0"/>
                <a:ea typeface="Arial" panose="020B0604020202020204" pitchFamily="34" charset="-122"/>
                <a:cs typeface="Arial" panose="020B0604020202020204" pitchFamily="34" charset="-120"/>
              </a:rPr>
              <a:t>same resources</a:t>
            </a:r>
            <a:endParaRPr lang="en-US" sz="1000" dirty="0"/>
          </a:p>
        </p:txBody>
      </p:sp>
      <p:sp>
        <p:nvSpPr>
          <p:cNvPr id="27" name="Text 25"/>
          <p:cNvSpPr/>
          <p:nvPr/>
        </p:nvSpPr>
        <p:spPr>
          <a:xfrm>
            <a:off x="713232" y="5989320"/>
            <a:ext cx="9875520" cy="256032"/>
          </a:xfrm>
          <a:prstGeom prst="rect">
            <a:avLst/>
          </a:prstGeom>
          <a:noFill/>
        </p:spPr>
        <p:txBody>
          <a:bodyPr wrap="square" lIns="381" tIns="381" rIns="381" bIns="381" rtlCol="0" anchor="ctr">
            <a:normAutofit/>
          </a:bodyPr>
          <a:lstStyle/>
          <a:p>
            <a:pPr marL="0" indent="0" algn="l">
              <a:buNone/>
            </a:pPr>
            <a:r>
              <a:rPr lang="en-US" sz="1400" dirty="0">
                <a:solidFill>
                  <a:srgbClr val="475569"/>
                </a:solidFill>
                <a:latin typeface="Arial" panose="020B0604020202020204" pitchFamily="34" charset="0"/>
                <a:ea typeface="Arial" panose="020B0604020202020204" pitchFamily="34" charset="-122"/>
                <a:cs typeface="Arial" panose="020B0604020202020204" pitchFamily="34" charset="-120"/>
              </a:rPr>
              <a:t>The driver repeats join -&gt; contribution -&gt; reduce. Only the links RDD is intentionally persisted.</a:t>
            </a:r>
            <a:endParaRPr lang="en-US" sz="1400" dirty="0"/>
          </a:p>
        </p:txBody>
      </p:sp>
      <p:sp>
        <p:nvSpPr>
          <p:cNvPr id="28" name="Slide Number Placeholder 0"/>
          <p:cNvSpPr>
            <a:spLocks noGrp="1"/>
          </p:cNvSpPr>
          <p:nvPr>
            <p:ph type="sldNum" sz="quarter" idx="4294967295"/>
          </p:nvPr>
        </p:nvSpPr>
        <p:spPr>
          <a:xfrm>
            <a:off x="11795760" y="6473952"/>
            <a:ext cx="800000" cy="300000"/>
          </a:xfrm>
          <a:prstGeom prst="rect">
            <a:avLst/>
          </a:prstGeom>
        </p:spPr>
        <p:txBody>
          <a:bodyPr/>
          <a:lstStyle>
            <a:lvl1pPr>
              <a:defRPr sz="800">
                <a:solidFill>
                  <a:srgbClr val="64748B"/>
                </a:solidFill>
                <a:latin typeface="Arial" panose="020B0604020202020204"/>
                <a:ea typeface="Arial" panose="020B0604020202020204"/>
                <a:cs typeface="Arial" panose="020B0604020202020204"/>
              </a:defRPr>
            </a:lvl1pPr>
          </a:lstStyle>
          <a:p>
            <a:pPr algn="l"/>
            <a:fld id="{F7021451-1387-4CA6-816F-3879F97B5CBC}" type="slidenum">
              <a:rPr lang="en-US" b="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411480"/>
            <a:ext cx="2743200" cy="201168"/>
          </a:xfrm>
          <a:prstGeom prst="rect">
            <a:avLst/>
          </a:prstGeom>
          <a:noFill/>
        </p:spPr>
        <p:txBody>
          <a:bodyPr wrap="square" lIns="0" tIns="0" rIns="0" bIns="0" rtlCol="0" anchor="ctr"/>
          <a:lstStyle/>
          <a:p>
            <a:pPr marL="0" indent="0">
              <a:buNone/>
            </a:pPr>
            <a:r>
              <a:rPr lang="en-US" sz="900" b="1" kern="0" spc="120" dirty="0">
                <a:solidFill>
                  <a:srgbClr val="2563EB"/>
                </a:solidFill>
                <a:latin typeface="Arial" panose="020B0604020202020204" pitchFamily="34" charset="0"/>
                <a:ea typeface="Arial" panose="020B0604020202020204" pitchFamily="34" charset="-122"/>
                <a:cs typeface="Arial" panose="020B0604020202020204" pitchFamily="34" charset="-120"/>
              </a:rPr>
              <a:t>MECHANISM</a:t>
            </a:r>
            <a:endParaRPr lang="en-US" sz="900" dirty="0"/>
          </a:p>
        </p:txBody>
      </p:sp>
      <p:sp>
        <p:nvSpPr>
          <p:cNvPr id="3" name="Text 1"/>
          <p:cNvSpPr/>
          <p:nvPr/>
        </p:nvSpPr>
        <p:spPr>
          <a:xfrm>
            <a:off x="566928" y="658368"/>
            <a:ext cx="10789920" cy="438912"/>
          </a:xfrm>
          <a:prstGeom prst="rect">
            <a:avLst/>
          </a:prstGeom>
          <a:noFill/>
        </p:spPr>
        <p:txBody>
          <a:bodyPr wrap="square" lIns="0" tIns="0" rIns="0" bIns="0" rtlCol="0" anchor="ctr">
            <a:normAutofit/>
          </a:bodyPr>
          <a:lstStyle/>
          <a:p>
            <a:pPr marL="0" indent="0">
              <a:buNone/>
            </a:pPr>
            <a:r>
              <a:rPr lang="en-US" sz="2600" b="1" dirty="0">
                <a:solidFill>
                  <a:srgbClr val="111827"/>
                </a:solidFill>
                <a:latin typeface="Arial" panose="020B0604020202020204" pitchFamily="34" charset="0"/>
                <a:ea typeface="Arial" panose="020B0604020202020204" pitchFamily="34" charset="-122"/>
                <a:cs typeface="Arial" panose="020B0604020202020204" pitchFamily="34" charset="-120"/>
              </a:rPr>
              <a:t>Caching changes the cost of the second and later iterations</a:t>
            </a:r>
            <a:endParaRPr lang="en-US" sz="2600" dirty="0"/>
          </a:p>
        </p:txBody>
      </p:sp>
      <p:sp>
        <p:nvSpPr>
          <p:cNvPr id="4" name="Text 2"/>
          <p:cNvSpPr/>
          <p:nvPr/>
        </p:nvSpPr>
        <p:spPr>
          <a:xfrm>
            <a:off x="822960" y="1234440"/>
            <a:ext cx="3840480" cy="274320"/>
          </a:xfrm>
          <a:prstGeom prst="rect">
            <a:avLst/>
          </a:prstGeom>
          <a:noFill/>
        </p:spPr>
        <p:txBody>
          <a:bodyPr wrap="square" lIns="381" tIns="381" rIns="381" bIns="381" rtlCol="0" anchor="ctr">
            <a:normAutofit/>
          </a:bodyPr>
          <a:lstStyle/>
          <a:p>
            <a:pPr marL="0" indent="0" algn="l">
              <a:buNone/>
            </a:pPr>
            <a:r>
              <a:rPr lang="en-US" sz="1900" b="1" dirty="0">
                <a:solidFill>
                  <a:srgbClr val="475569"/>
                </a:solidFill>
                <a:latin typeface="Arial" panose="020B0604020202020204" pitchFamily="34" charset="0"/>
                <a:ea typeface="Arial" panose="020B0604020202020204" pitchFamily="34" charset="-122"/>
                <a:cs typeface="Arial" panose="020B0604020202020204" pitchFamily="34" charset="-120"/>
              </a:rPr>
              <a:t>Without persistence</a:t>
            </a:r>
            <a:endParaRPr lang="en-US" sz="1900" dirty="0"/>
          </a:p>
        </p:txBody>
      </p:sp>
      <p:sp>
        <p:nvSpPr>
          <p:cNvPr id="5" name="Text 3"/>
          <p:cNvSpPr/>
          <p:nvPr/>
        </p:nvSpPr>
        <p:spPr>
          <a:xfrm>
            <a:off x="822960" y="1572768"/>
            <a:ext cx="4389120" cy="320040"/>
          </a:xfrm>
          <a:prstGeom prst="rect">
            <a:avLst/>
          </a:prstGeom>
          <a:noFill/>
        </p:spPr>
        <p:txBody>
          <a:bodyPr wrap="square" lIns="381" tIns="381" rIns="381" bIns="381" rtlCol="0" anchor="ctr">
            <a:normAutofit/>
          </a:bodyPr>
          <a:lstStyle/>
          <a:p>
            <a:pPr marL="0" indent="0" algn="l">
              <a:buNone/>
            </a:pPr>
            <a:r>
              <a:rPr lang="en-US" sz="1400" dirty="0">
                <a:solidFill>
                  <a:srgbClr val="475569"/>
                </a:solidFill>
                <a:latin typeface="Arial" panose="020B0604020202020204" pitchFamily="34" charset="0"/>
                <a:ea typeface="Arial" panose="020B0604020202020204" pitchFamily="34" charset="-122"/>
                <a:cs typeface="Arial" panose="020B0604020202020204" pitchFamily="34" charset="-120"/>
              </a:rPr>
              <a:t>Each iteration can recompute the shared links lineage.</a:t>
            </a:r>
            <a:endParaRPr lang="en-US" sz="1400" dirty="0"/>
          </a:p>
        </p:txBody>
      </p:sp>
      <p:sp>
        <p:nvSpPr>
          <p:cNvPr id="6" name="Shape 4"/>
          <p:cNvSpPr/>
          <p:nvPr/>
        </p:nvSpPr>
        <p:spPr>
          <a:xfrm>
            <a:off x="822960" y="2148840"/>
            <a:ext cx="1600200" cy="594360"/>
          </a:xfrm>
          <a:prstGeom prst="roundRect">
            <a:avLst>
              <a:gd name="adj" fmla="val 9231"/>
            </a:avLst>
          </a:prstGeom>
          <a:solidFill>
            <a:srgbClr val="E5E7EB"/>
          </a:solidFill>
          <a:ln w="13970">
            <a:solidFill>
              <a:srgbClr val="111827"/>
            </a:solidFill>
            <a:prstDash val="solid"/>
          </a:ln>
        </p:spPr>
      </p:sp>
      <p:sp>
        <p:nvSpPr>
          <p:cNvPr id="7" name="Text 5"/>
          <p:cNvSpPr/>
          <p:nvPr/>
        </p:nvSpPr>
        <p:spPr>
          <a:xfrm>
            <a:off x="896112" y="2203704"/>
            <a:ext cx="1453896" cy="484632"/>
          </a:xfrm>
          <a:prstGeom prst="rect">
            <a:avLst/>
          </a:prstGeom>
          <a:noFill/>
        </p:spPr>
        <p:txBody>
          <a:bodyPr wrap="square" lIns="381" tIns="381" rIns="381" bIns="381" rtlCol="0" anchor="ctr">
            <a:normAutofit/>
          </a:bodyPr>
          <a:lstStyle/>
          <a:p>
            <a:pPr marL="0" indent="0" algn="ctr">
              <a:buNone/>
            </a:pPr>
            <a:r>
              <a:rPr lang="en-US" sz="1400" b="1" dirty="0">
                <a:solidFill>
                  <a:srgbClr val="111827"/>
                </a:solidFill>
                <a:latin typeface="Arial" panose="020B0604020202020204" pitchFamily="34" charset="0"/>
                <a:ea typeface="Arial" panose="020B0604020202020204" pitchFamily="34" charset="-122"/>
                <a:cs typeface="Arial" panose="020B0604020202020204" pitchFamily="34" charset="-120"/>
              </a:rPr>
              <a:t>Read + group</a:t>
            </a:r>
            <a:endParaRPr lang="en-US" sz="1400" dirty="0"/>
          </a:p>
        </p:txBody>
      </p:sp>
      <p:sp>
        <p:nvSpPr>
          <p:cNvPr id="8" name="Shape 6"/>
          <p:cNvSpPr/>
          <p:nvPr/>
        </p:nvSpPr>
        <p:spPr>
          <a:xfrm>
            <a:off x="2834640" y="2148840"/>
            <a:ext cx="1508760" cy="594360"/>
          </a:xfrm>
          <a:prstGeom prst="roundRect">
            <a:avLst>
              <a:gd name="adj" fmla="val 9231"/>
            </a:avLst>
          </a:prstGeom>
          <a:solidFill>
            <a:srgbClr val="E5E7EB"/>
          </a:solidFill>
          <a:ln w="13970">
            <a:solidFill>
              <a:srgbClr val="111827"/>
            </a:solidFill>
            <a:prstDash val="solid"/>
          </a:ln>
        </p:spPr>
      </p:sp>
      <p:sp>
        <p:nvSpPr>
          <p:cNvPr id="9" name="Text 7"/>
          <p:cNvSpPr/>
          <p:nvPr/>
        </p:nvSpPr>
        <p:spPr>
          <a:xfrm>
            <a:off x="2907792" y="2203704"/>
            <a:ext cx="1362456" cy="484632"/>
          </a:xfrm>
          <a:prstGeom prst="rect">
            <a:avLst/>
          </a:prstGeom>
          <a:noFill/>
        </p:spPr>
        <p:txBody>
          <a:bodyPr wrap="square" lIns="381" tIns="381" rIns="381" bIns="381" rtlCol="0" anchor="ctr">
            <a:normAutofit/>
          </a:bodyPr>
          <a:lstStyle/>
          <a:p>
            <a:pPr marL="0" indent="0" algn="ctr">
              <a:buNone/>
            </a:pPr>
            <a:r>
              <a:rPr lang="en-US" sz="1400" b="1" dirty="0">
                <a:solidFill>
                  <a:srgbClr val="111827"/>
                </a:solidFill>
                <a:latin typeface="Arial" panose="020B0604020202020204" pitchFamily="34" charset="0"/>
                <a:ea typeface="Arial" panose="020B0604020202020204" pitchFamily="34" charset="-122"/>
                <a:cs typeface="Arial" panose="020B0604020202020204" pitchFamily="34" charset="-120"/>
              </a:rPr>
              <a:t>Join</a:t>
            </a:r>
            <a:endParaRPr lang="en-US" sz="1400" dirty="0"/>
          </a:p>
        </p:txBody>
      </p:sp>
      <p:sp>
        <p:nvSpPr>
          <p:cNvPr id="10" name="Shape 8"/>
          <p:cNvSpPr/>
          <p:nvPr/>
        </p:nvSpPr>
        <p:spPr>
          <a:xfrm>
            <a:off x="4754880" y="2148840"/>
            <a:ext cx="1508760" cy="594360"/>
          </a:xfrm>
          <a:prstGeom prst="roundRect">
            <a:avLst>
              <a:gd name="adj" fmla="val 9231"/>
            </a:avLst>
          </a:prstGeom>
          <a:solidFill>
            <a:srgbClr val="E5E7EB"/>
          </a:solidFill>
          <a:ln w="13970">
            <a:solidFill>
              <a:srgbClr val="111827"/>
            </a:solidFill>
            <a:prstDash val="solid"/>
          </a:ln>
        </p:spPr>
      </p:sp>
      <p:sp>
        <p:nvSpPr>
          <p:cNvPr id="11" name="Text 9"/>
          <p:cNvSpPr/>
          <p:nvPr/>
        </p:nvSpPr>
        <p:spPr>
          <a:xfrm>
            <a:off x="4828032" y="2203704"/>
            <a:ext cx="1362456" cy="484632"/>
          </a:xfrm>
          <a:prstGeom prst="rect">
            <a:avLst/>
          </a:prstGeom>
          <a:noFill/>
        </p:spPr>
        <p:txBody>
          <a:bodyPr wrap="square" lIns="381" tIns="381" rIns="381" bIns="381" rtlCol="0" anchor="ctr">
            <a:normAutofit/>
          </a:bodyPr>
          <a:lstStyle/>
          <a:p>
            <a:pPr marL="0" indent="0" algn="ctr">
              <a:buNone/>
            </a:pPr>
            <a:r>
              <a:rPr lang="en-US" sz="1400" b="1" dirty="0">
                <a:solidFill>
                  <a:srgbClr val="111827"/>
                </a:solidFill>
                <a:latin typeface="Arial" panose="020B0604020202020204" pitchFamily="34" charset="0"/>
                <a:ea typeface="Arial" panose="020B0604020202020204" pitchFamily="34" charset="-122"/>
                <a:cs typeface="Arial" panose="020B0604020202020204" pitchFamily="34" charset="-120"/>
              </a:rPr>
              <a:t>Reduce</a:t>
            </a:r>
            <a:endParaRPr lang="en-US" sz="1400" dirty="0"/>
          </a:p>
        </p:txBody>
      </p:sp>
      <p:sp>
        <p:nvSpPr>
          <p:cNvPr id="12" name="Shape 10"/>
          <p:cNvSpPr/>
          <p:nvPr/>
        </p:nvSpPr>
        <p:spPr>
          <a:xfrm>
            <a:off x="2423160" y="2450592"/>
            <a:ext cx="411480" cy="0"/>
          </a:xfrm>
          <a:prstGeom prst="line">
            <a:avLst/>
          </a:prstGeom>
          <a:noFill/>
          <a:ln w="19050">
            <a:solidFill>
              <a:srgbClr val="475569"/>
            </a:solidFill>
            <a:prstDash val="solid"/>
            <a:headEnd type="none"/>
            <a:tailEnd type="triangle"/>
          </a:ln>
        </p:spPr>
      </p:sp>
      <p:sp>
        <p:nvSpPr>
          <p:cNvPr id="13" name="Shape 11"/>
          <p:cNvSpPr/>
          <p:nvPr/>
        </p:nvSpPr>
        <p:spPr>
          <a:xfrm>
            <a:off x="4343400" y="2450592"/>
            <a:ext cx="411480" cy="0"/>
          </a:xfrm>
          <a:prstGeom prst="line">
            <a:avLst/>
          </a:prstGeom>
          <a:noFill/>
          <a:ln w="19050">
            <a:solidFill>
              <a:srgbClr val="475569"/>
            </a:solidFill>
            <a:prstDash val="solid"/>
            <a:headEnd type="none"/>
            <a:tailEnd type="triangle"/>
          </a:ln>
        </p:spPr>
      </p:sp>
      <p:sp>
        <p:nvSpPr>
          <p:cNvPr id="14" name="Text 12"/>
          <p:cNvSpPr/>
          <p:nvPr/>
        </p:nvSpPr>
        <p:spPr>
          <a:xfrm>
            <a:off x="6537960" y="1234440"/>
            <a:ext cx="3840480" cy="274320"/>
          </a:xfrm>
          <a:prstGeom prst="rect">
            <a:avLst/>
          </a:prstGeom>
          <a:noFill/>
        </p:spPr>
        <p:txBody>
          <a:bodyPr wrap="square" lIns="381" tIns="381" rIns="381" bIns="381" rtlCol="0" anchor="ctr">
            <a:normAutofit/>
          </a:bodyPr>
          <a:lstStyle/>
          <a:p>
            <a:pPr marL="0" indent="0" algn="l">
              <a:buNone/>
            </a:pPr>
            <a:r>
              <a:rPr lang="en-US" sz="1900" b="1" dirty="0">
                <a:solidFill>
                  <a:srgbClr val="2563EB"/>
                </a:solidFill>
                <a:latin typeface="Arial" panose="020B0604020202020204" pitchFamily="34" charset="0"/>
                <a:ea typeface="Arial" panose="020B0604020202020204" pitchFamily="34" charset="-122"/>
                <a:cs typeface="Arial" panose="020B0604020202020204" pitchFamily="34" charset="-120"/>
              </a:rPr>
              <a:t>With MEMORY_ONLY</a:t>
            </a:r>
            <a:endParaRPr lang="en-US" sz="1900" dirty="0"/>
          </a:p>
        </p:txBody>
      </p:sp>
      <p:sp>
        <p:nvSpPr>
          <p:cNvPr id="15" name="Text 13"/>
          <p:cNvSpPr/>
          <p:nvPr/>
        </p:nvSpPr>
        <p:spPr>
          <a:xfrm>
            <a:off x="6537960" y="1572768"/>
            <a:ext cx="4480560" cy="320040"/>
          </a:xfrm>
          <a:prstGeom prst="rect">
            <a:avLst/>
          </a:prstGeom>
          <a:noFill/>
        </p:spPr>
        <p:txBody>
          <a:bodyPr wrap="square" lIns="381" tIns="381" rIns="381" bIns="381" rtlCol="0" anchor="ctr">
            <a:normAutofit/>
          </a:bodyPr>
          <a:lstStyle/>
          <a:p>
            <a:pPr marL="0" indent="0" algn="l">
              <a:buNone/>
            </a:pPr>
            <a:r>
              <a:rPr lang="en-US" sz="1400" dirty="0">
                <a:solidFill>
                  <a:srgbClr val="475569"/>
                </a:solidFill>
                <a:latin typeface="Arial" panose="020B0604020202020204" pitchFamily="34" charset="0"/>
                <a:ea typeface="Arial" panose="020B0604020202020204" pitchFamily="34" charset="-122"/>
                <a:cs typeface="Arial" panose="020B0604020202020204" pitchFamily="34" charset="-120"/>
              </a:rPr>
              <a:t>Materialize once, then reuse cached partitions.</a:t>
            </a:r>
            <a:endParaRPr lang="en-US" sz="1400" dirty="0"/>
          </a:p>
        </p:txBody>
      </p:sp>
      <p:sp>
        <p:nvSpPr>
          <p:cNvPr id="16" name="Shape 14"/>
          <p:cNvSpPr/>
          <p:nvPr/>
        </p:nvSpPr>
        <p:spPr>
          <a:xfrm>
            <a:off x="6537960" y="2148840"/>
            <a:ext cx="1554480" cy="594360"/>
          </a:xfrm>
          <a:prstGeom prst="roundRect">
            <a:avLst>
              <a:gd name="adj" fmla="val 9231"/>
            </a:avLst>
          </a:prstGeom>
          <a:solidFill>
            <a:srgbClr val="FEF3C7"/>
          </a:solidFill>
          <a:ln w="13970">
            <a:solidFill>
              <a:srgbClr val="D97706"/>
            </a:solidFill>
            <a:prstDash val="solid"/>
          </a:ln>
        </p:spPr>
      </p:sp>
      <p:sp>
        <p:nvSpPr>
          <p:cNvPr id="17" name="Text 15"/>
          <p:cNvSpPr/>
          <p:nvPr/>
        </p:nvSpPr>
        <p:spPr>
          <a:xfrm>
            <a:off x="6611112" y="2203704"/>
            <a:ext cx="1408176" cy="484632"/>
          </a:xfrm>
          <a:prstGeom prst="rect">
            <a:avLst/>
          </a:prstGeom>
          <a:noFill/>
        </p:spPr>
        <p:txBody>
          <a:bodyPr wrap="square" lIns="381" tIns="381" rIns="381" bIns="381" rtlCol="0" anchor="ctr">
            <a:normAutofit/>
          </a:bodyPr>
          <a:lstStyle/>
          <a:p>
            <a:pPr marL="0" indent="0" algn="ctr">
              <a:buNone/>
            </a:pPr>
            <a:r>
              <a:rPr lang="en-US" sz="1400" b="1" dirty="0">
                <a:solidFill>
                  <a:srgbClr val="111827"/>
                </a:solidFill>
                <a:latin typeface="Arial" panose="020B0604020202020204" pitchFamily="34" charset="0"/>
                <a:ea typeface="Arial" panose="020B0604020202020204" pitchFamily="34" charset="-122"/>
                <a:cs typeface="Arial" panose="020B0604020202020204" pitchFamily="34" charset="-120"/>
              </a:rPr>
              <a:t>Read + group</a:t>
            </a:r>
            <a:endParaRPr lang="en-US" sz="1400" dirty="0"/>
          </a:p>
        </p:txBody>
      </p:sp>
      <p:sp>
        <p:nvSpPr>
          <p:cNvPr id="18" name="Shape 16"/>
          <p:cNvSpPr/>
          <p:nvPr/>
        </p:nvSpPr>
        <p:spPr>
          <a:xfrm>
            <a:off x="8503920" y="2148840"/>
            <a:ext cx="1554480" cy="594360"/>
          </a:xfrm>
          <a:prstGeom prst="roundRect">
            <a:avLst>
              <a:gd name="adj" fmla="val 9231"/>
            </a:avLst>
          </a:prstGeom>
          <a:solidFill>
            <a:srgbClr val="FEF3C7"/>
          </a:solidFill>
          <a:ln w="13970">
            <a:solidFill>
              <a:srgbClr val="D97706"/>
            </a:solidFill>
            <a:prstDash val="solid"/>
          </a:ln>
        </p:spPr>
      </p:sp>
      <p:sp>
        <p:nvSpPr>
          <p:cNvPr id="19" name="Text 17"/>
          <p:cNvSpPr/>
          <p:nvPr/>
        </p:nvSpPr>
        <p:spPr>
          <a:xfrm>
            <a:off x="8577072" y="2203704"/>
            <a:ext cx="1408176" cy="484632"/>
          </a:xfrm>
          <a:prstGeom prst="rect">
            <a:avLst/>
          </a:prstGeom>
          <a:noFill/>
        </p:spPr>
        <p:txBody>
          <a:bodyPr wrap="square" lIns="381" tIns="381" rIns="381" bIns="381" rtlCol="0" anchor="ctr">
            <a:normAutofit/>
          </a:bodyPr>
          <a:lstStyle/>
          <a:p>
            <a:pPr marL="0" indent="0" algn="ctr">
              <a:buNone/>
            </a:pPr>
            <a:r>
              <a:rPr lang="en-US" sz="1400" b="1" dirty="0">
                <a:solidFill>
                  <a:srgbClr val="111827"/>
                </a:solidFill>
                <a:latin typeface="Arial" panose="020B0604020202020204" pitchFamily="34" charset="0"/>
                <a:ea typeface="Arial" panose="020B0604020202020204" pitchFamily="34" charset="-122"/>
                <a:cs typeface="Arial" panose="020B0604020202020204" pitchFamily="34" charset="-120"/>
              </a:rPr>
              <a:t>Cached links</a:t>
            </a:r>
            <a:endParaRPr lang="en-US" sz="1400" dirty="0"/>
          </a:p>
        </p:txBody>
      </p:sp>
      <p:sp>
        <p:nvSpPr>
          <p:cNvPr id="20" name="Shape 18"/>
          <p:cNvSpPr/>
          <p:nvPr/>
        </p:nvSpPr>
        <p:spPr>
          <a:xfrm>
            <a:off x="10424160" y="2148840"/>
            <a:ext cx="1097280" cy="594360"/>
          </a:xfrm>
          <a:prstGeom prst="roundRect">
            <a:avLst>
              <a:gd name="adj" fmla="val 9231"/>
            </a:avLst>
          </a:prstGeom>
          <a:solidFill>
            <a:srgbClr val="DBEAFE"/>
          </a:solidFill>
          <a:ln w="13970">
            <a:solidFill>
              <a:srgbClr val="2563EB"/>
            </a:solidFill>
            <a:prstDash val="solid"/>
          </a:ln>
        </p:spPr>
      </p:sp>
      <p:sp>
        <p:nvSpPr>
          <p:cNvPr id="21" name="Text 19"/>
          <p:cNvSpPr/>
          <p:nvPr/>
        </p:nvSpPr>
        <p:spPr>
          <a:xfrm>
            <a:off x="10497312" y="2203704"/>
            <a:ext cx="950976" cy="484632"/>
          </a:xfrm>
          <a:prstGeom prst="rect">
            <a:avLst/>
          </a:prstGeom>
          <a:noFill/>
        </p:spPr>
        <p:txBody>
          <a:bodyPr wrap="square" lIns="381" tIns="381" rIns="381" bIns="381" rtlCol="0" anchor="ctr">
            <a:normAutofit/>
          </a:bodyPr>
          <a:lstStyle/>
          <a:p>
            <a:pPr marL="0" indent="0" algn="ctr">
              <a:buNone/>
            </a:pPr>
            <a:r>
              <a:rPr lang="en-US" sz="1400" b="1" dirty="0">
                <a:solidFill>
                  <a:srgbClr val="111827"/>
                </a:solidFill>
                <a:latin typeface="Arial" panose="020B0604020202020204" pitchFamily="34" charset="0"/>
                <a:ea typeface="Arial" panose="020B0604020202020204" pitchFamily="34" charset="-122"/>
                <a:cs typeface="Arial" panose="020B0604020202020204" pitchFamily="34" charset="-120"/>
              </a:rPr>
              <a:t>Join</a:t>
            </a:r>
            <a:endParaRPr lang="en-US" sz="1400" dirty="0"/>
          </a:p>
        </p:txBody>
      </p:sp>
      <p:sp>
        <p:nvSpPr>
          <p:cNvPr id="22" name="Shape 20"/>
          <p:cNvSpPr/>
          <p:nvPr/>
        </p:nvSpPr>
        <p:spPr>
          <a:xfrm>
            <a:off x="8092440" y="2450592"/>
            <a:ext cx="411480" cy="0"/>
          </a:xfrm>
          <a:prstGeom prst="line">
            <a:avLst/>
          </a:prstGeom>
          <a:noFill/>
          <a:ln w="19050">
            <a:solidFill>
              <a:srgbClr val="475569"/>
            </a:solidFill>
            <a:prstDash val="solid"/>
            <a:headEnd type="none"/>
            <a:tailEnd type="triangle"/>
          </a:ln>
        </p:spPr>
      </p:sp>
      <p:sp>
        <p:nvSpPr>
          <p:cNvPr id="23" name="Shape 21"/>
          <p:cNvSpPr/>
          <p:nvPr/>
        </p:nvSpPr>
        <p:spPr>
          <a:xfrm>
            <a:off x="10058400" y="2450592"/>
            <a:ext cx="365760" cy="0"/>
          </a:xfrm>
          <a:prstGeom prst="line">
            <a:avLst/>
          </a:prstGeom>
          <a:noFill/>
          <a:ln w="19050">
            <a:solidFill>
              <a:srgbClr val="475569"/>
            </a:solidFill>
            <a:prstDash val="solid"/>
            <a:headEnd type="none"/>
            <a:tailEnd type="triangle"/>
          </a:ln>
        </p:spPr>
      </p:sp>
      <p:sp>
        <p:nvSpPr>
          <p:cNvPr id="25" name="Text 23"/>
          <p:cNvSpPr/>
          <p:nvPr/>
        </p:nvSpPr>
        <p:spPr>
          <a:xfrm>
            <a:off x="2011680" y="4526280"/>
            <a:ext cx="8046720" cy="411480"/>
          </a:xfrm>
          <a:prstGeom prst="rect">
            <a:avLst/>
          </a:prstGeom>
          <a:noFill/>
        </p:spPr>
        <p:txBody>
          <a:bodyPr wrap="square" lIns="381" tIns="381" rIns="381" bIns="381" rtlCol="0" anchor="ctr">
            <a:normAutofit/>
          </a:bodyPr>
          <a:lstStyle/>
          <a:p>
            <a:pPr marL="0" indent="0" algn="ctr">
              <a:buNone/>
            </a:pPr>
            <a:r>
              <a:rPr lang="en-US" sz="2100" b="1" dirty="0">
                <a:solidFill>
                  <a:srgbClr val="1E3A8A"/>
                </a:solidFill>
                <a:latin typeface="Arial" panose="020B0604020202020204" pitchFamily="34" charset="0"/>
                <a:ea typeface="Arial" panose="020B0604020202020204" pitchFamily="34" charset="-122"/>
                <a:cs typeface="Arial" panose="020B0604020202020204" pitchFamily="34" charset="-120"/>
              </a:rPr>
              <a:t>RDD lineage still exists for recovery. Cache changes reuse, not correctness.</a:t>
            </a:r>
            <a:endParaRPr lang="en-US" sz="2100" dirty="0"/>
          </a:p>
        </p:txBody>
      </p:sp>
      <p:sp>
        <p:nvSpPr>
          <p:cNvPr id="26" name="Text 24"/>
          <p:cNvSpPr/>
          <p:nvPr/>
        </p:nvSpPr>
        <p:spPr>
          <a:xfrm>
            <a:off x="1828800" y="5166360"/>
            <a:ext cx="8503920" cy="411480"/>
          </a:xfrm>
          <a:prstGeom prst="rect">
            <a:avLst/>
          </a:prstGeom>
          <a:noFill/>
        </p:spPr>
        <p:txBody>
          <a:bodyPr wrap="square" lIns="381" tIns="381" rIns="381" bIns="381" rtlCol="0" anchor="ctr">
            <a:normAutofit/>
          </a:bodyPr>
          <a:lstStyle/>
          <a:p>
            <a:pPr marL="0" indent="0" algn="ctr">
              <a:buNone/>
            </a:pPr>
            <a:r>
              <a:rPr lang="en-US" sz="1500" dirty="0">
                <a:solidFill>
                  <a:srgbClr val="475569"/>
                </a:solidFill>
                <a:latin typeface="Arial" panose="020B0604020202020204" pitchFamily="34" charset="0"/>
                <a:ea typeface="Arial" panose="020B0604020202020204" pitchFamily="34" charset="-122"/>
                <a:cs typeface="Arial" panose="020B0604020202020204" pitchFamily="34" charset="-120"/>
              </a:rPr>
              <a:t>The expected benefit appears in subsequent iterations. Total runtime also includes materialization and Spark startup.</a:t>
            </a:r>
            <a:endParaRPr lang="en-US" sz="1500" dirty="0"/>
          </a:p>
        </p:txBody>
      </p:sp>
      <p:sp>
        <p:nvSpPr>
          <p:cNvPr id="27" name="Slide Number Placeholder 0"/>
          <p:cNvSpPr>
            <a:spLocks noGrp="1"/>
          </p:cNvSpPr>
          <p:nvPr>
            <p:ph type="sldNum" sz="quarter" idx="4294967295"/>
          </p:nvPr>
        </p:nvSpPr>
        <p:spPr>
          <a:xfrm>
            <a:off x="11795760" y="6473952"/>
            <a:ext cx="800000" cy="300000"/>
          </a:xfrm>
          <a:prstGeom prst="rect">
            <a:avLst/>
          </a:prstGeom>
        </p:spPr>
        <p:txBody>
          <a:bodyPr/>
          <a:lstStyle>
            <a:lvl1pPr>
              <a:defRPr sz="800">
                <a:solidFill>
                  <a:srgbClr val="64748B"/>
                </a:solidFill>
                <a:latin typeface="Arial" panose="020B0604020202020204"/>
                <a:ea typeface="Arial" panose="020B0604020202020204"/>
                <a:cs typeface="Arial" panose="020B0604020202020204"/>
              </a:defRPr>
            </a:lvl1pPr>
          </a:lstStyle>
          <a:p>
            <a:pPr algn="l"/>
            <a:fld id="{F7021451-1387-4CA6-816F-3879F97B5CBC}" type="slidenum">
              <a:rPr lang="en-US" b="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411480"/>
            <a:ext cx="2743200" cy="201168"/>
          </a:xfrm>
          <a:prstGeom prst="rect">
            <a:avLst/>
          </a:prstGeom>
          <a:noFill/>
        </p:spPr>
        <p:txBody>
          <a:bodyPr wrap="square" lIns="0" tIns="0" rIns="0" bIns="0" rtlCol="0" anchor="ctr"/>
          <a:lstStyle/>
          <a:p>
            <a:pPr marL="0" indent="0">
              <a:buNone/>
            </a:pPr>
            <a:r>
              <a:rPr lang="en-US" sz="900" b="1" kern="0" spc="120" dirty="0">
                <a:solidFill>
                  <a:srgbClr val="2563EB"/>
                </a:solidFill>
                <a:latin typeface="Arial" panose="020B0604020202020204" pitchFamily="34" charset="0"/>
                <a:ea typeface="Arial" panose="020B0604020202020204" pitchFamily="34" charset="-122"/>
                <a:cs typeface="Arial" panose="020B0604020202020204" pitchFamily="34" charset="-120"/>
              </a:rPr>
              <a:t>WORKLOAD</a:t>
            </a:r>
            <a:endParaRPr lang="en-US" sz="900" dirty="0"/>
          </a:p>
        </p:txBody>
      </p:sp>
      <p:sp>
        <p:nvSpPr>
          <p:cNvPr id="3" name="Text 1"/>
          <p:cNvSpPr/>
          <p:nvPr/>
        </p:nvSpPr>
        <p:spPr>
          <a:xfrm>
            <a:off x="566928" y="658368"/>
            <a:ext cx="10789920" cy="438912"/>
          </a:xfrm>
          <a:prstGeom prst="rect">
            <a:avLst/>
          </a:prstGeom>
          <a:noFill/>
        </p:spPr>
        <p:txBody>
          <a:bodyPr wrap="square" lIns="0" tIns="0" rIns="0" bIns="0" rtlCol="0" anchor="ctr">
            <a:normAutofit/>
          </a:bodyPr>
          <a:lstStyle/>
          <a:p>
            <a:pPr marL="0" indent="0">
              <a:buNone/>
            </a:pPr>
            <a:r>
              <a:rPr lang="en-US" sz="2600" b="1" dirty="0">
                <a:solidFill>
                  <a:srgbClr val="111827"/>
                </a:solidFill>
                <a:latin typeface="Arial" panose="020B0604020202020204" pitchFamily="34" charset="0"/>
                <a:ea typeface="Arial" panose="020B0604020202020204" pitchFamily="34" charset="-122"/>
                <a:cs typeface="Arial" panose="020B0604020202020204" pitchFamily="34" charset="-120"/>
              </a:rPr>
              <a:t>PageRank makes repeated reuse visible</a:t>
            </a:r>
            <a:endParaRPr lang="en-US" sz="2600" dirty="0"/>
          </a:p>
        </p:txBody>
      </p:sp>
      <p:sp>
        <p:nvSpPr>
          <p:cNvPr id="4" name="Shape 2"/>
          <p:cNvSpPr/>
          <p:nvPr/>
        </p:nvSpPr>
        <p:spPr>
          <a:xfrm>
            <a:off x="749808" y="1234440"/>
            <a:ext cx="5486400" cy="4480560"/>
          </a:xfrm>
          <a:prstGeom prst="roundRect">
            <a:avLst>
              <a:gd name="adj" fmla="val 1224"/>
            </a:avLst>
          </a:prstGeom>
          <a:solidFill>
            <a:srgbClr val="FFFFFF"/>
          </a:solidFill>
          <a:ln w="12700">
            <a:solidFill>
              <a:srgbClr val="CBD5E1"/>
            </a:solidFill>
            <a:prstDash val="solid"/>
          </a:ln>
        </p:spPr>
      </p:sp>
      <p:sp>
        <p:nvSpPr>
          <p:cNvPr id="5" name="Text 3"/>
          <p:cNvSpPr/>
          <p:nvPr/>
        </p:nvSpPr>
        <p:spPr>
          <a:xfrm>
            <a:off x="1024128" y="1554480"/>
            <a:ext cx="4114800" cy="274320"/>
          </a:xfrm>
          <a:prstGeom prst="rect">
            <a:avLst/>
          </a:prstGeom>
          <a:noFill/>
        </p:spPr>
        <p:txBody>
          <a:bodyPr wrap="square" lIns="381" tIns="381" rIns="381" bIns="381" rtlCol="0" anchor="ctr">
            <a:normAutofit/>
          </a:bodyPr>
          <a:lstStyle/>
          <a:p>
            <a:pPr marL="0" indent="0" algn="l">
              <a:buNone/>
            </a:pPr>
            <a:r>
              <a:rPr lang="en-US" sz="1900" b="1" dirty="0">
                <a:solidFill>
                  <a:srgbClr val="111827"/>
                </a:solidFill>
                <a:latin typeface="Arial" panose="020B0604020202020204" pitchFamily="34" charset="0"/>
                <a:ea typeface="Arial" panose="020B0604020202020204" pitchFamily="34" charset="-122"/>
                <a:cs typeface="Arial" panose="020B0604020202020204" pitchFamily="34" charset="-120"/>
              </a:rPr>
              <a:t>Per-iteration computation</a:t>
            </a:r>
            <a:endParaRPr lang="en-US" sz="1900" dirty="0"/>
          </a:p>
        </p:txBody>
      </p:sp>
      <p:sp>
        <p:nvSpPr>
          <p:cNvPr id="6" name="Shape 4"/>
          <p:cNvSpPr/>
          <p:nvPr/>
        </p:nvSpPr>
        <p:spPr>
          <a:xfrm>
            <a:off x="1051560" y="2084832"/>
            <a:ext cx="384048" cy="384048"/>
          </a:xfrm>
          <a:prstGeom prst="ellipse">
            <a:avLst/>
          </a:prstGeom>
          <a:solidFill>
            <a:srgbClr val="DBEAFE"/>
          </a:solidFill>
          <a:ln w="12700">
            <a:solidFill>
              <a:srgbClr val="2563EB"/>
            </a:solidFill>
            <a:prstDash val="solid"/>
          </a:ln>
        </p:spPr>
      </p:sp>
      <p:sp>
        <p:nvSpPr>
          <p:cNvPr id="7" name="Text 5"/>
          <p:cNvSpPr/>
          <p:nvPr/>
        </p:nvSpPr>
        <p:spPr>
          <a:xfrm>
            <a:off x="1051560" y="2148840"/>
            <a:ext cx="384048" cy="201168"/>
          </a:xfrm>
          <a:prstGeom prst="rect">
            <a:avLst/>
          </a:prstGeom>
          <a:noFill/>
        </p:spPr>
        <p:txBody>
          <a:bodyPr wrap="square" lIns="381" tIns="381" rIns="381" bIns="381" rtlCol="0" anchor="ctr">
            <a:normAutofit/>
          </a:bodyPr>
          <a:lstStyle/>
          <a:p>
            <a:pPr marL="0" indent="0" algn="ctr">
              <a:buNone/>
            </a:pPr>
            <a:r>
              <a:rPr lang="en-US" sz="1100" b="1" dirty="0">
                <a:solidFill>
                  <a:srgbClr val="2563EB"/>
                </a:solidFill>
                <a:latin typeface="Arial" panose="020B0604020202020204" pitchFamily="34" charset="0"/>
                <a:ea typeface="Arial" panose="020B0604020202020204" pitchFamily="34" charset="-122"/>
                <a:cs typeface="Arial" panose="020B0604020202020204" pitchFamily="34" charset="-120"/>
              </a:rPr>
              <a:t>1</a:t>
            </a:r>
            <a:endParaRPr lang="en-US" sz="1100" dirty="0"/>
          </a:p>
        </p:txBody>
      </p:sp>
      <p:sp>
        <p:nvSpPr>
          <p:cNvPr id="8" name="Text 6"/>
          <p:cNvSpPr/>
          <p:nvPr/>
        </p:nvSpPr>
        <p:spPr>
          <a:xfrm>
            <a:off x="1645920" y="2139696"/>
            <a:ext cx="3886200" cy="256032"/>
          </a:xfrm>
          <a:prstGeom prst="rect">
            <a:avLst/>
          </a:prstGeom>
          <a:noFill/>
        </p:spPr>
        <p:txBody>
          <a:bodyPr wrap="square" lIns="381" tIns="381" rIns="381" bIns="381" rtlCol="0" anchor="ctr">
            <a:normAutofit/>
          </a:bodyPr>
          <a:lstStyle/>
          <a:p>
            <a:pPr marL="0" indent="0" algn="l">
              <a:buNone/>
            </a:pPr>
            <a:r>
              <a:rPr lang="en-US" sz="1600" dirty="0">
                <a:solidFill>
                  <a:srgbClr val="111827"/>
                </a:solidFill>
                <a:latin typeface="Arial" panose="020B0604020202020204" pitchFamily="34" charset="0"/>
                <a:ea typeface="Arial" panose="020B0604020202020204" pitchFamily="34" charset="-122"/>
                <a:cs typeface="Arial" panose="020B0604020202020204" pitchFamily="34" charset="-120"/>
              </a:rPr>
              <a:t>Join links with current ranks</a:t>
            </a:r>
            <a:endParaRPr lang="en-US" sz="1600" dirty="0"/>
          </a:p>
        </p:txBody>
      </p:sp>
      <p:sp>
        <p:nvSpPr>
          <p:cNvPr id="9" name="Shape 7"/>
          <p:cNvSpPr/>
          <p:nvPr/>
        </p:nvSpPr>
        <p:spPr>
          <a:xfrm>
            <a:off x="1051560" y="2770632"/>
            <a:ext cx="384048" cy="384048"/>
          </a:xfrm>
          <a:prstGeom prst="ellipse">
            <a:avLst/>
          </a:prstGeom>
          <a:solidFill>
            <a:srgbClr val="DBEAFE"/>
          </a:solidFill>
          <a:ln w="12700">
            <a:solidFill>
              <a:srgbClr val="2563EB"/>
            </a:solidFill>
            <a:prstDash val="solid"/>
          </a:ln>
        </p:spPr>
      </p:sp>
      <p:sp>
        <p:nvSpPr>
          <p:cNvPr id="10" name="Text 8"/>
          <p:cNvSpPr/>
          <p:nvPr/>
        </p:nvSpPr>
        <p:spPr>
          <a:xfrm>
            <a:off x="1051560" y="2834640"/>
            <a:ext cx="384048" cy="201168"/>
          </a:xfrm>
          <a:prstGeom prst="rect">
            <a:avLst/>
          </a:prstGeom>
          <a:noFill/>
        </p:spPr>
        <p:txBody>
          <a:bodyPr wrap="square" lIns="381" tIns="381" rIns="381" bIns="381" rtlCol="0" anchor="ctr">
            <a:normAutofit/>
          </a:bodyPr>
          <a:lstStyle/>
          <a:p>
            <a:pPr marL="0" indent="0" algn="ctr">
              <a:buNone/>
            </a:pPr>
            <a:r>
              <a:rPr lang="en-US" sz="1100" b="1" dirty="0">
                <a:solidFill>
                  <a:srgbClr val="2563EB"/>
                </a:solidFill>
                <a:latin typeface="Arial" panose="020B0604020202020204" pitchFamily="34" charset="0"/>
                <a:ea typeface="Arial" panose="020B0604020202020204" pitchFamily="34" charset="-122"/>
                <a:cs typeface="Arial" panose="020B0604020202020204" pitchFamily="34" charset="-120"/>
              </a:rPr>
              <a:t>2</a:t>
            </a:r>
            <a:endParaRPr lang="en-US" sz="1100" dirty="0"/>
          </a:p>
        </p:txBody>
      </p:sp>
      <p:sp>
        <p:nvSpPr>
          <p:cNvPr id="11" name="Text 9"/>
          <p:cNvSpPr/>
          <p:nvPr/>
        </p:nvSpPr>
        <p:spPr>
          <a:xfrm>
            <a:off x="1645920" y="2825496"/>
            <a:ext cx="3886200" cy="256032"/>
          </a:xfrm>
          <a:prstGeom prst="rect">
            <a:avLst/>
          </a:prstGeom>
          <a:noFill/>
        </p:spPr>
        <p:txBody>
          <a:bodyPr wrap="square" lIns="381" tIns="381" rIns="381" bIns="381" rtlCol="0" anchor="ctr">
            <a:normAutofit/>
          </a:bodyPr>
          <a:lstStyle/>
          <a:p>
            <a:pPr marL="0" indent="0" algn="l">
              <a:buNone/>
            </a:pPr>
            <a:r>
              <a:rPr lang="en-US" sz="1600" dirty="0">
                <a:solidFill>
                  <a:srgbClr val="111827"/>
                </a:solidFill>
                <a:latin typeface="Arial" panose="020B0604020202020204" pitchFamily="34" charset="0"/>
                <a:ea typeface="Arial" panose="020B0604020202020204" pitchFamily="34" charset="-122"/>
                <a:cs typeface="Arial" panose="020B0604020202020204" pitchFamily="34" charset="-120"/>
              </a:rPr>
              <a:t>Split rank across outgoing edges</a:t>
            </a:r>
            <a:endParaRPr lang="en-US" sz="1600" dirty="0"/>
          </a:p>
        </p:txBody>
      </p:sp>
      <p:sp>
        <p:nvSpPr>
          <p:cNvPr id="12" name="Shape 10"/>
          <p:cNvSpPr/>
          <p:nvPr/>
        </p:nvSpPr>
        <p:spPr>
          <a:xfrm>
            <a:off x="1051560" y="3456432"/>
            <a:ext cx="384048" cy="384048"/>
          </a:xfrm>
          <a:prstGeom prst="ellipse">
            <a:avLst/>
          </a:prstGeom>
          <a:solidFill>
            <a:srgbClr val="DBEAFE"/>
          </a:solidFill>
          <a:ln w="12700">
            <a:solidFill>
              <a:srgbClr val="2563EB"/>
            </a:solidFill>
            <a:prstDash val="solid"/>
          </a:ln>
        </p:spPr>
      </p:sp>
      <p:sp>
        <p:nvSpPr>
          <p:cNvPr id="13" name="Text 11"/>
          <p:cNvSpPr/>
          <p:nvPr/>
        </p:nvSpPr>
        <p:spPr>
          <a:xfrm>
            <a:off x="1051560" y="3520440"/>
            <a:ext cx="384048" cy="201168"/>
          </a:xfrm>
          <a:prstGeom prst="rect">
            <a:avLst/>
          </a:prstGeom>
          <a:noFill/>
        </p:spPr>
        <p:txBody>
          <a:bodyPr wrap="square" lIns="381" tIns="381" rIns="381" bIns="381" rtlCol="0" anchor="ctr">
            <a:normAutofit/>
          </a:bodyPr>
          <a:lstStyle/>
          <a:p>
            <a:pPr marL="0" indent="0" algn="ctr">
              <a:buNone/>
            </a:pPr>
            <a:r>
              <a:rPr lang="en-US" sz="1100" b="1" dirty="0">
                <a:solidFill>
                  <a:srgbClr val="2563EB"/>
                </a:solidFill>
                <a:latin typeface="Arial" panose="020B0604020202020204" pitchFamily="34" charset="0"/>
                <a:ea typeface="Arial" panose="020B0604020202020204" pitchFamily="34" charset="-122"/>
                <a:cs typeface="Arial" panose="020B0604020202020204" pitchFamily="34" charset="-120"/>
              </a:rPr>
              <a:t>3</a:t>
            </a:r>
            <a:endParaRPr lang="en-US" sz="1100" dirty="0"/>
          </a:p>
        </p:txBody>
      </p:sp>
      <p:sp>
        <p:nvSpPr>
          <p:cNvPr id="14" name="Text 12"/>
          <p:cNvSpPr/>
          <p:nvPr/>
        </p:nvSpPr>
        <p:spPr>
          <a:xfrm>
            <a:off x="1645920" y="3511296"/>
            <a:ext cx="3886200" cy="256032"/>
          </a:xfrm>
          <a:prstGeom prst="rect">
            <a:avLst/>
          </a:prstGeom>
          <a:noFill/>
        </p:spPr>
        <p:txBody>
          <a:bodyPr wrap="square" lIns="381" tIns="381" rIns="381" bIns="381" rtlCol="0" anchor="ctr">
            <a:normAutofit/>
          </a:bodyPr>
          <a:lstStyle/>
          <a:p>
            <a:pPr marL="0" indent="0" algn="l">
              <a:buNone/>
            </a:pPr>
            <a:r>
              <a:rPr lang="en-US" sz="1600" dirty="0">
                <a:solidFill>
                  <a:srgbClr val="111827"/>
                </a:solidFill>
                <a:latin typeface="Arial" panose="020B0604020202020204" pitchFamily="34" charset="0"/>
                <a:ea typeface="Arial" panose="020B0604020202020204" pitchFamily="34" charset="-122"/>
                <a:cs typeface="Arial" panose="020B0604020202020204" pitchFamily="34" charset="-120"/>
              </a:rPr>
              <a:t>Reduce contributions by node</a:t>
            </a:r>
            <a:endParaRPr lang="en-US" sz="1600" dirty="0"/>
          </a:p>
        </p:txBody>
      </p:sp>
      <p:sp>
        <p:nvSpPr>
          <p:cNvPr id="15" name="Shape 13"/>
          <p:cNvSpPr/>
          <p:nvPr/>
        </p:nvSpPr>
        <p:spPr>
          <a:xfrm>
            <a:off x="1051560" y="4142232"/>
            <a:ext cx="384048" cy="384048"/>
          </a:xfrm>
          <a:prstGeom prst="ellipse">
            <a:avLst/>
          </a:prstGeom>
          <a:solidFill>
            <a:srgbClr val="DBEAFE"/>
          </a:solidFill>
          <a:ln w="12700">
            <a:solidFill>
              <a:srgbClr val="2563EB"/>
            </a:solidFill>
            <a:prstDash val="solid"/>
          </a:ln>
        </p:spPr>
      </p:sp>
      <p:sp>
        <p:nvSpPr>
          <p:cNvPr id="16" name="Text 14"/>
          <p:cNvSpPr/>
          <p:nvPr/>
        </p:nvSpPr>
        <p:spPr>
          <a:xfrm>
            <a:off x="1051560" y="4206240"/>
            <a:ext cx="384048" cy="201168"/>
          </a:xfrm>
          <a:prstGeom prst="rect">
            <a:avLst/>
          </a:prstGeom>
          <a:noFill/>
        </p:spPr>
        <p:txBody>
          <a:bodyPr wrap="square" lIns="381" tIns="381" rIns="381" bIns="381" rtlCol="0" anchor="ctr">
            <a:normAutofit/>
          </a:bodyPr>
          <a:lstStyle/>
          <a:p>
            <a:pPr marL="0" indent="0" algn="ctr">
              <a:buNone/>
            </a:pPr>
            <a:r>
              <a:rPr lang="en-US" sz="1100" b="1" dirty="0">
                <a:solidFill>
                  <a:srgbClr val="2563EB"/>
                </a:solidFill>
                <a:latin typeface="Arial" panose="020B0604020202020204" pitchFamily="34" charset="0"/>
                <a:ea typeface="Arial" panose="020B0604020202020204" pitchFamily="34" charset="-122"/>
                <a:cs typeface="Arial" panose="020B0604020202020204" pitchFamily="34" charset="-120"/>
              </a:rPr>
              <a:t>4</a:t>
            </a:r>
            <a:endParaRPr lang="en-US" sz="1100" dirty="0"/>
          </a:p>
        </p:txBody>
      </p:sp>
      <p:sp>
        <p:nvSpPr>
          <p:cNvPr id="17" name="Text 15"/>
          <p:cNvSpPr/>
          <p:nvPr/>
        </p:nvSpPr>
        <p:spPr>
          <a:xfrm>
            <a:off x="1645920" y="4197096"/>
            <a:ext cx="3886200" cy="256032"/>
          </a:xfrm>
          <a:prstGeom prst="rect">
            <a:avLst/>
          </a:prstGeom>
          <a:noFill/>
        </p:spPr>
        <p:txBody>
          <a:bodyPr wrap="square" lIns="381" tIns="381" rIns="381" bIns="381" rtlCol="0" anchor="ctr">
            <a:normAutofit/>
          </a:bodyPr>
          <a:lstStyle/>
          <a:p>
            <a:pPr marL="0" indent="0" algn="l">
              <a:buNone/>
            </a:pPr>
            <a:r>
              <a:rPr lang="en-US" sz="1600" dirty="0">
                <a:solidFill>
                  <a:srgbClr val="111827"/>
                </a:solidFill>
                <a:latin typeface="Arial" panose="020B0604020202020204" pitchFamily="34" charset="0"/>
                <a:ea typeface="Arial" panose="020B0604020202020204" pitchFamily="34" charset="-122"/>
                <a:cs typeface="Arial" panose="020B0604020202020204" pitchFamily="34" charset="-120"/>
              </a:rPr>
              <a:t>Materialize new ranks</a:t>
            </a:r>
            <a:endParaRPr lang="en-US" sz="1600" dirty="0"/>
          </a:p>
        </p:txBody>
      </p:sp>
      <p:sp>
        <p:nvSpPr>
          <p:cNvPr id="18" name="Shape 16"/>
          <p:cNvSpPr/>
          <p:nvPr/>
        </p:nvSpPr>
        <p:spPr>
          <a:xfrm>
            <a:off x="6720840" y="1234440"/>
            <a:ext cx="4663440" cy="1828800"/>
          </a:xfrm>
          <a:prstGeom prst="roundRect">
            <a:avLst>
              <a:gd name="adj" fmla="val 3000"/>
            </a:avLst>
          </a:prstGeom>
          <a:solidFill>
            <a:srgbClr val="FEF3C7"/>
          </a:solidFill>
          <a:ln w="12700">
            <a:solidFill>
              <a:srgbClr val="D97706"/>
            </a:solidFill>
            <a:prstDash val="solid"/>
          </a:ln>
        </p:spPr>
      </p:sp>
      <p:sp>
        <p:nvSpPr>
          <p:cNvPr id="19" name="Text 17"/>
          <p:cNvSpPr/>
          <p:nvPr/>
        </p:nvSpPr>
        <p:spPr>
          <a:xfrm>
            <a:off x="7086600" y="1572768"/>
            <a:ext cx="2103120" cy="274320"/>
          </a:xfrm>
          <a:prstGeom prst="rect">
            <a:avLst/>
          </a:prstGeom>
          <a:noFill/>
        </p:spPr>
        <p:txBody>
          <a:bodyPr wrap="square" lIns="381" tIns="381" rIns="381" bIns="381" rtlCol="0" anchor="ctr">
            <a:normAutofit/>
          </a:bodyPr>
          <a:lstStyle/>
          <a:p>
            <a:pPr marL="0" indent="0" algn="l">
              <a:buNone/>
            </a:pPr>
            <a:r>
              <a:rPr lang="en-US" sz="1800" b="1" dirty="0">
                <a:solidFill>
                  <a:srgbClr val="D97706"/>
                </a:solidFill>
                <a:latin typeface="Arial" panose="020B0604020202020204" pitchFamily="34" charset="0"/>
                <a:ea typeface="Arial" panose="020B0604020202020204" pitchFamily="34" charset="-122"/>
                <a:cs typeface="Arial" panose="020B0604020202020204" pitchFamily="34" charset="-120"/>
              </a:rPr>
              <a:t>Rank recurrence</a:t>
            </a:r>
            <a:endParaRPr lang="en-US" sz="1800" dirty="0"/>
          </a:p>
        </p:txBody>
      </p:sp>
      <p:sp>
        <p:nvSpPr>
          <p:cNvPr id="20" name="Text 18"/>
          <p:cNvSpPr/>
          <p:nvPr/>
        </p:nvSpPr>
        <p:spPr>
          <a:xfrm>
            <a:off x="7086600" y="1993392"/>
            <a:ext cx="3977640" cy="685800"/>
          </a:xfrm>
          <a:prstGeom prst="rect">
            <a:avLst/>
          </a:prstGeom>
          <a:noFill/>
        </p:spPr>
        <p:txBody>
          <a:bodyPr wrap="square" lIns="381" tIns="381" rIns="381" bIns="381" rtlCol="0" anchor="ctr">
            <a:normAutofit/>
          </a:bodyPr>
          <a:lstStyle/>
          <a:p>
            <a:pPr marL="0" indent="0" algn="l">
              <a:buNone/>
            </a:pPr>
            <a:r>
              <a:rPr lang="en-US" sz="2000" b="1" dirty="0">
                <a:solidFill>
                  <a:srgbClr val="111827"/>
                </a:solidFill>
                <a:latin typeface="Arial" panose="020B0604020202020204" pitchFamily="34" charset="0"/>
                <a:ea typeface="Arial" panose="020B0604020202020204" pitchFamily="34" charset="-122"/>
                <a:cs typeface="Arial" panose="020B0604020202020204" pitchFamily="34" charset="-120"/>
              </a:rPr>
              <a:t>rank_new(v) = 0.15 / N</a:t>
            </a:r>
            <a:endParaRPr lang="en-US" sz="2000" dirty="0"/>
          </a:p>
          <a:p>
            <a:pPr marL="0" indent="0" algn="l">
              <a:buNone/>
            </a:pPr>
            <a:r>
              <a:rPr lang="en-US" sz="2000" b="1" dirty="0">
                <a:solidFill>
                  <a:srgbClr val="111827"/>
                </a:solidFill>
                <a:latin typeface="Arial" panose="020B0604020202020204" pitchFamily="34" charset="0"/>
                <a:ea typeface="Arial" panose="020B0604020202020204" pitchFamily="34" charset="-122"/>
                <a:cs typeface="Arial" panose="020B0604020202020204" pitchFamily="34" charset="-120"/>
              </a:rPr>
              <a:t>+ 0.85 * sum(rank(u) / out_degree(u))</a:t>
            </a:r>
            <a:endParaRPr lang="en-US" sz="2000" dirty="0"/>
          </a:p>
        </p:txBody>
      </p:sp>
      <p:sp>
        <p:nvSpPr>
          <p:cNvPr id="21" name="Shape 19"/>
          <p:cNvSpPr/>
          <p:nvPr/>
        </p:nvSpPr>
        <p:spPr>
          <a:xfrm>
            <a:off x="6720840" y="3474720"/>
            <a:ext cx="4663440" cy="2240280"/>
          </a:xfrm>
          <a:prstGeom prst="roundRect">
            <a:avLst>
              <a:gd name="adj" fmla="val 2449"/>
            </a:avLst>
          </a:prstGeom>
          <a:solidFill>
            <a:srgbClr val="DCFCE7"/>
          </a:solidFill>
          <a:ln w="12700">
            <a:solidFill>
              <a:srgbClr val="16A34A"/>
            </a:solidFill>
            <a:prstDash val="solid"/>
          </a:ln>
        </p:spPr>
      </p:sp>
      <p:sp>
        <p:nvSpPr>
          <p:cNvPr id="22" name="Text 20"/>
          <p:cNvSpPr/>
          <p:nvPr/>
        </p:nvSpPr>
        <p:spPr>
          <a:xfrm>
            <a:off x="7086600" y="3794760"/>
            <a:ext cx="2560320" cy="274320"/>
          </a:xfrm>
          <a:prstGeom prst="rect">
            <a:avLst/>
          </a:prstGeom>
          <a:noFill/>
        </p:spPr>
        <p:txBody>
          <a:bodyPr wrap="square" lIns="381" tIns="381" rIns="381" bIns="381" rtlCol="0" anchor="ctr">
            <a:normAutofit/>
          </a:bodyPr>
          <a:lstStyle/>
          <a:p>
            <a:pPr marL="0" indent="0" algn="l">
              <a:buNone/>
            </a:pPr>
            <a:r>
              <a:rPr lang="en-US" sz="1800" b="1" dirty="0">
                <a:solidFill>
                  <a:srgbClr val="16A34A"/>
                </a:solidFill>
                <a:latin typeface="Arial" panose="020B0604020202020204" pitchFamily="34" charset="0"/>
                <a:ea typeface="Arial" panose="020B0604020202020204" pitchFamily="34" charset="-122"/>
                <a:cs typeface="Arial" panose="020B0604020202020204" pitchFamily="34" charset="-120"/>
              </a:rPr>
              <a:t>Why cache helps</a:t>
            </a:r>
            <a:endParaRPr lang="en-US" sz="1800" dirty="0"/>
          </a:p>
        </p:txBody>
      </p:sp>
      <p:sp>
        <p:nvSpPr>
          <p:cNvPr id="23" name="Text 21"/>
          <p:cNvSpPr/>
          <p:nvPr/>
        </p:nvSpPr>
        <p:spPr>
          <a:xfrm>
            <a:off x="7086600" y="4251960"/>
            <a:ext cx="3657600" cy="1005840"/>
          </a:xfrm>
          <a:prstGeom prst="rect">
            <a:avLst/>
          </a:prstGeom>
          <a:noFill/>
        </p:spPr>
        <p:txBody>
          <a:bodyPr wrap="square" lIns="381" tIns="381" rIns="381" bIns="381" rtlCol="0" anchor="ctr">
            <a:normAutofit/>
          </a:bodyPr>
          <a:lstStyle/>
          <a:p>
            <a:pPr marL="0" indent="0" algn="l">
              <a:buNone/>
            </a:pPr>
            <a:r>
              <a:rPr lang="en-US" sz="1700" dirty="0">
                <a:solidFill>
                  <a:srgbClr val="111827"/>
                </a:solidFill>
                <a:latin typeface="Arial" panose="020B0604020202020204" pitchFamily="34" charset="0"/>
                <a:ea typeface="Arial" panose="020B0604020202020204" pitchFamily="34" charset="-122"/>
                <a:cs typeface="Arial" panose="020B0604020202020204" pitchFamily="34" charset="-120"/>
              </a:rPr>
              <a:t>The graph structure stays fixed.</a:t>
            </a:r>
            <a:endParaRPr lang="en-US" sz="1700" dirty="0"/>
          </a:p>
          <a:p>
            <a:pPr marL="0" indent="0" algn="l">
              <a:buNone/>
            </a:pPr>
            <a:r>
              <a:rPr lang="en-US" sz="1700" dirty="0">
                <a:solidFill>
                  <a:srgbClr val="111827"/>
                </a:solidFill>
                <a:latin typeface="Arial" panose="020B0604020202020204" pitchFamily="34" charset="0"/>
                <a:ea typeface="Arial" panose="020B0604020202020204" pitchFamily="34" charset="-122"/>
                <a:cs typeface="Arial" panose="020B0604020202020204" pitchFamily="34" charset="-120"/>
              </a:rPr>
              <a:t>The rank vector changes.</a:t>
            </a:r>
            <a:endParaRPr lang="en-US" sz="1700" dirty="0"/>
          </a:p>
          <a:p>
            <a:pPr marL="0" indent="0" algn="l">
              <a:buNone/>
            </a:pPr>
            <a:r>
              <a:rPr lang="en-US" sz="1700" dirty="0">
                <a:solidFill>
                  <a:srgbClr val="111827"/>
                </a:solidFill>
                <a:latin typeface="Arial" panose="020B0604020202020204" pitchFamily="34" charset="0"/>
                <a:ea typeface="Arial" panose="020B0604020202020204" pitchFamily="34" charset="-122"/>
                <a:cs typeface="Arial" panose="020B0604020202020204" pitchFamily="34" charset="-120"/>
              </a:rPr>
              <a:t>Caching only the reusable side isolates the mechanism.</a:t>
            </a:r>
            <a:endParaRPr lang="en-US" sz="1700" dirty="0"/>
          </a:p>
        </p:txBody>
      </p:sp>
      <p:sp>
        <p:nvSpPr>
          <p:cNvPr id="25" name="Slide Number Placeholder 0"/>
          <p:cNvSpPr>
            <a:spLocks noGrp="1"/>
          </p:cNvSpPr>
          <p:nvPr>
            <p:ph type="sldNum" sz="quarter" idx="4294967295"/>
          </p:nvPr>
        </p:nvSpPr>
        <p:spPr>
          <a:xfrm>
            <a:off x="11795760" y="6473952"/>
            <a:ext cx="800000" cy="300000"/>
          </a:xfrm>
          <a:prstGeom prst="rect">
            <a:avLst/>
          </a:prstGeom>
        </p:spPr>
        <p:txBody>
          <a:bodyPr/>
          <a:lstStyle>
            <a:lvl1pPr>
              <a:defRPr sz="800">
                <a:solidFill>
                  <a:srgbClr val="64748B"/>
                </a:solidFill>
                <a:latin typeface="Arial" panose="020B0604020202020204"/>
                <a:ea typeface="Arial" panose="020B0604020202020204"/>
                <a:cs typeface="Arial" panose="020B0604020202020204"/>
              </a:defRPr>
            </a:lvl1pPr>
          </a:lstStyle>
          <a:p>
            <a:pPr algn="l"/>
            <a:fld id="{F7021451-1387-4CA6-816F-3879F97B5CBC}" type="slidenum">
              <a:rPr lang="en-US" b="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411480"/>
            <a:ext cx="2743200" cy="201168"/>
          </a:xfrm>
          <a:prstGeom prst="rect">
            <a:avLst/>
          </a:prstGeom>
          <a:noFill/>
        </p:spPr>
        <p:txBody>
          <a:bodyPr wrap="square" lIns="0" tIns="0" rIns="0" bIns="0" rtlCol="0" anchor="ctr"/>
          <a:lstStyle/>
          <a:p>
            <a:pPr marL="0" indent="0">
              <a:buNone/>
            </a:pPr>
            <a:r>
              <a:rPr lang="en-US" sz="900" b="1" kern="0" spc="120" dirty="0">
                <a:solidFill>
                  <a:srgbClr val="2563EB"/>
                </a:solidFill>
                <a:latin typeface="Arial" panose="020B0604020202020204" pitchFamily="34" charset="0"/>
                <a:ea typeface="Arial" panose="020B0604020202020204" pitchFamily="34" charset="-122"/>
                <a:cs typeface="Arial" panose="020B0604020202020204" pitchFamily="34" charset="-120"/>
              </a:rPr>
              <a:t>EXPERIMENT</a:t>
            </a:r>
            <a:endParaRPr lang="en-US" sz="900" dirty="0"/>
          </a:p>
        </p:txBody>
      </p:sp>
      <p:sp>
        <p:nvSpPr>
          <p:cNvPr id="3" name="Text 1"/>
          <p:cNvSpPr/>
          <p:nvPr/>
        </p:nvSpPr>
        <p:spPr>
          <a:xfrm>
            <a:off x="566928" y="658368"/>
            <a:ext cx="10789920" cy="438912"/>
          </a:xfrm>
          <a:prstGeom prst="rect">
            <a:avLst/>
          </a:prstGeom>
          <a:noFill/>
        </p:spPr>
        <p:txBody>
          <a:bodyPr wrap="square" lIns="0" tIns="0" rIns="0" bIns="0" rtlCol="0" anchor="ctr">
            <a:normAutofit/>
          </a:bodyPr>
          <a:lstStyle/>
          <a:p>
            <a:pPr marL="0" indent="0">
              <a:buNone/>
            </a:pPr>
            <a:r>
              <a:rPr lang="en-US" sz="2600" b="1" dirty="0">
                <a:solidFill>
                  <a:srgbClr val="111827"/>
                </a:solidFill>
                <a:latin typeface="Arial" panose="020B0604020202020204" pitchFamily="34" charset="0"/>
                <a:ea typeface="Arial" panose="020B0604020202020204" pitchFamily="34" charset="-122"/>
                <a:cs typeface="Arial" panose="020B0604020202020204" pitchFamily="34" charset="-120"/>
              </a:rPr>
              <a:t>The comparison holds the resource budget fixed</a:t>
            </a:r>
            <a:endParaRPr lang="en-US" sz="2600" dirty="0"/>
          </a:p>
        </p:txBody>
      </p:sp>
      <p:sp>
        <p:nvSpPr>
          <p:cNvPr id="4" name="Shape 2"/>
          <p:cNvSpPr/>
          <p:nvPr/>
        </p:nvSpPr>
        <p:spPr>
          <a:xfrm>
            <a:off x="777240" y="1325880"/>
            <a:ext cx="1828800" cy="530352"/>
          </a:xfrm>
          <a:prstGeom prst="rect">
            <a:avLst/>
          </a:prstGeom>
          <a:solidFill>
            <a:srgbClr val="DBEAFE"/>
          </a:solidFill>
          <a:ln w="12700">
            <a:solidFill>
              <a:srgbClr val="CBD5E1"/>
            </a:solidFill>
            <a:prstDash val="solid"/>
          </a:ln>
        </p:spPr>
      </p:sp>
      <p:sp>
        <p:nvSpPr>
          <p:cNvPr id="5" name="Text 3"/>
          <p:cNvSpPr/>
          <p:nvPr/>
        </p:nvSpPr>
        <p:spPr>
          <a:xfrm>
            <a:off x="850392" y="1481328"/>
            <a:ext cx="1682496" cy="182880"/>
          </a:xfrm>
          <a:prstGeom prst="rect">
            <a:avLst/>
          </a:prstGeom>
          <a:noFill/>
        </p:spPr>
        <p:txBody>
          <a:bodyPr wrap="square" lIns="381" tIns="381" rIns="381" bIns="381" rtlCol="0" anchor="ctr">
            <a:normAutofit/>
          </a:bodyPr>
          <a:lstStyle/>
          <a:p>
            <a:pPr marL="0" indent="0" algn="ctr">
              <a:buNone/>
            </a:pPr>
            <a:r>
              <a:rPr lang="en-US" sz="1400" b="1" dirty="0">
                <a:solidFill>
                  <a:srgbClr val="1E3A8A"/>
                </a:solidFill>
                <a:latin typeface="Arial" panose="020B0604020202020204" pitchFamily="34" charset="0"/>
                <a:ea typeface="Arial" panose="020B0604020202020204" pitchFamily="34" charset="-122"/>
                <a:cs typeface="Arial" panose="020B0604020202020204" pitchFamily="34" charset="-120"/>
              </a:rPr>
              <a:t>Factor</a:t>
            </a:r>
            <a:endParaRPr lang="en-US" sz="1400" dirty="0"/>
          </a:p>
        </p:txBody>
      </p:sp>
      <p:sp>
        <p:nvSpPr>
          <p:cNvPr id="6" name="Shape 4"/>
          <p:cNvSpPr/>
          <p:nvPr/>
        </p:nvSpPr>
        <p:spPr>
          <a:xfrm>
            <a:off x="3017520" y="1325880"/>
            <a:ext cx="1828800" cy="530352"/>
          </a:xfrm>
          <a:prstGeom prst="rect">
            <a:avLst/>
          </a:prstGeom>
          <a:solidFill>
            <a:srgbClr val="DBEAFE"/>
          </a:solidFill>
          <a:ln w="12700">
            <a:solidFill>
              <a:srgbClr val="CBD5E1"/>
            </a:solidFill>
            <a:prstDash val="solid"/>
          </a:ln>
        </p:spPr>
      </p:sp>
      <p:sp>
        <p:nvSpPr>
          <p:cNvPr id="7" name="Text 5"/>
          <p:cNvSpPr/>
          <p:nvPr/>
        </p:nvSpPr>
        <p:spPr>
          <a:xfrm>
            <a:off x="3090672" y="1481328"/>
            <a:ext cx="1682496" cy="182880"/>
          </a:xfrm>
          <a:prstGeom prst="rect">
            <a:avLst/>
          </a:prstGeom>
          <a:noFill/>
        </p:spPr>
        <p:txBody>
          <a:bodyPr wrap="square" lIns="381" tIns="381" rIns="381" bIns="381" rtlCol="0" anchor="ctr">
            <a:normAutofit/>
          </a:bodyPr>
          <a:lstStyle/>
          <a:p>
            <a:pPr marL="0" indent="0" algn="ctr">
              <a:buNone/>
            </a:pPr>
            <a:r>
              <a:rPr lang="en-US" sz="1400" b="1" dirty="0">
                <a:solidFill>
                  <a:srgbClr val="1E3A8A"/>
                </a:solidFill>
                <a:latin typeface="Arial" panose="020B0604020202020204" pitchFamily="34" charset="0"/>
                <a:ea typeface="Arial" panose="020B0604020202020204" pitchFamily="34" charset="-122"/>
                <a:cs typeface="Arial" panose="020B0604020202020204" pitchFamily="34" charset="-120"/>
              </a:rPr>
              <a:t>Small</a:t>
            </a:r>
            <a:endParaRPr lang="en-US" sz="1400" dirty="0"/>
          </a:p>
        </p:txBody>
      </p:sp>
      <p:sp>
        <p:nvSpPr>
          <p:cNvPr id="8" name="Shape 6"/>
          <p:cNvSpPr/>
          <p:nvPr/>
        </p:nvSpPr>
        <p:spPr>
          <a:xfrm>
            <a:off x="5486400" y="1325880"/>
            <a:ext cx="1828800" cy="530352"/>
          </a:xfrm>
          <a:prstGeom prst="rect">
            <a:avLst/>
          </a:prstGeom>
          <a:solidFill>
            <a:srgbClr val="DBEAFE"/>
          </a:solidFill>
          <a:ln w="12700">
            <a:solidFill>
              <a:srgbClr val="CBD5E1"/>
            </a:solidFill>
            <a:prstDash val="solid"/>
          </a:ln>
        </p:spPr>
      </p:sp>
      <p:sp>
        <p:nvSpPr>
          <p:cNvPr id="9" name="Text 7"/>
          <p:cNvSpPr/>
          <p:nvPr/>
        </p:nvSpPr>
        <p:spPr>
          <a:xfrm>
            <a:off x="5559552" y="1481328"/>
            <a:ext cx="1682496" cy="182880"/>
          </a:xfrm>
          <a:prstGeom prst="rect">
            <a:avLst/>
          </a:prstGeom>
          <a:noFill/>
        </p:spPr>
        <p:txBody>
          <a:bodyPr wrap="square" lIns="381" tIns="381" rIns="381" bIns="381" rtlCol="0" anchor="ctr">
            <a:normAutofit/>
          </a:bodyPr>
          <a:lstStyle/>
          <a:p>
            <a:pPr marL="0" indent="0" algn="ctr">
              <a:buNone/>
            </a:pPr>
            <a:r>
              <a:rPr lang="en-US" sz="1400" b="1" dirty="0">
                <a:solidFill>
                  <a:srgbClr val="1E3A8A"/>
                </a:solidFill>
                <a:latin typeface="Arial" panose="020B0604020202020204" pitchFamily="34" charset="0"/>
                <a:ea typeface="Arial" panose="020B0604020202020204" pitchFamily="34" charset="-122"/>
                <a:cs typeface="Arial" panose="020B0604020202020204" pitchFamily="34" charset="-120"/>
              </a:rPr>
              <a:t>Medium</a:t>
            </a:r>
            <a:endParaRPr lang="en-US" sz="1400" dirty="0"/>
          </a:p>
        </p:txBody>
      </p:sp>
      <p:sp>
        <p:nvSpPr>
          <p:cNvPr id="10" name="Shape 8"/>
          <p:cNvSpPr/>
          <p:nvPr/>
        </p:nvSpPr>
        <p:spPr>
          <a:xfrm>
            <a:off x="7863840" y="1325880"/>
            <a:ext cx="1828800" cy="530352"/>
          </a:xfrm>
          <a:prstGeom prst="rect">
            <a:avLst/>
          </a:prstGeom>
          <a:solidFill>
            <a:srgbClr val="DBEAFE"/>
          </a:solidFill>
          <a:ln w="12700">
            <a:solidFill>
              <a:srgbClr val="CBD5E1"/>
            </a:solidFill>
            <a:prstDash val="solid"/>
          </a:ln>
        </p:spPr>
      </p:sp>
      <p:sp>
        <p:nvSpPr>
          <p:cNvPr id="11" name="Text 9"/>
          <p:cNvSpPr/>
          <p:nvPr/>
        </p:nvSpPr>
        <p:spPr>
          <a:xfrm>
            <a:off x="7936992" y="1481328"/>
            <a:ext cx="1682496" cy="182880"/>
          </a:xfrm>
          <a:prstGeom prst="rect">
            <a:avLst/>
          </a:prstGeom>
          <a:noFill/>
        </p:spPr>
        <p:txBody>
          <a:bodyPr wrap="square" lIns="381" tIns="381" rIns="381" bIns="381" rtlCol="0" anchor="ctr">
            <a:normAutofit/>
          </a:bodyPr>
          <a:lstStyle/>
          <a:p>
            <a:pPr marL="0" indent="0" algn="ctr">
              <a:buNone/>
            </a:pPr>
            <a:r>
              <a:rPr lang="en-US" sz="1400" b="1" dirty="0">
                <a:solidFill>
                  <a:srgbClr val="1E3A8A"/>
                </a:solidFill>
                <a:latin typeface="Arial" panose="020B0604020202020204" pitchFamily="34" charset="0"/>
                <a:ea typeface="Arial" panose="020B0604020202020204" pitchFamily="34" charset="-122"/>
                <a:cs typeface="Arial" panose="020B0604020202020204" pitchFamily="34" charset="-120"/>
              </a:rPr>
              <a:t>Large</a:t>
            </a:r>
            <a:endParaRPr lang="en-US" sz="1400" dirty="0"/>
          </a:p>
        </p:txBody>
      </p:sp>
      <p:sp>
        <p:nvSpPr>
          <p:cNvPr id="12" name="Shape 10"/>
          <p:cNvSpPr/>
          <p:nvPr/>
        </p:nvSpPr>
        <p:spPr>
          <a:xfrm>
            <a:off x="10058400" y="1325880"/>
            <a:ext cx="1828800" cy="530352"/>
          </a:xfrm>
          <a:prstGeom prst="rect">
            <a:avLst/>
          </a:prstGeom>
          <a:solidFill>
            <a:srgbClr val="DBEAFE"/>
          </a:solidFill>
          <a:ln w="12700">
            <a:solidFill>
              <a:srgbClr val="CBD5E1"/>
            </a:solidFill>
            <a:prstDash val="solid"/>
          </a:ln>
        </p:spPr>
      </p:sp>
      <p:sp>
        <p:nvSpPr>
          <p:cNvPr id="13" name="Text 11"/>
          <p:cNvSpPr/>
          <p:nvPr/>
        </p:nvSpPr>
        <p:spPr>
          <a:xfrm>
            <a:off x="10131552" y="1481328"/>
            <a:ext cx="1682496" cy="182880"/>
          </a:xfrm>
          <a:prstGeom prst="rect">
            <a:avLst/>
          </a:prstGeom>
          <a:noFill/>
        </p:spPr>
        <p:txBody>
          <a:bodyPr wrap="square" lIns="381" tIns="381" rIns="381" bIns="381" rtlCol="0" anchor="ctr">
            <a:normAutofit/>
          </a:bodyPr>
          <a:lstStyle/>
          <a:p>
            <a:pPr marL="0" indent="0" algn="ctr">
              <a:buNone/>
            </a:pPr>
            <a:r>
              <a:rPr lang="en-US" sz="1400" b="1" dirty="0">
                <a:solidFill>
                  <a:srgbClr val="1E3A8A"/>
                </a:solidFill>
                <a:latin typeface="Arial" panose="020B0604020202020204" pitchFamily="34" charset="0"/>
                <a:ea typeface="Arial" panose="020B0604020202020204" pitchFamily="34" charset="-122"/>
                <a:cs typeface="Arial" panose="020B0604020202020204" pitchFamily="34" charset="-120"/>
              </a:rPr>
              <a:t>Control</a:t>
            </a:r>
            <a:endParaRPr lang="en-US" sz="1400" dirty="0"/>
          </a:p>
        </p:txBody>
      </p:sp>
      <p:sp>
        <p:nvSpPr>
          <p:cNvPr id="14" name="Shape 12"/>
          <p:cNvSpPr/>
          <p:nvPr/>
        </p:nvSpPr>
        <p:spPr>
          <a:xfrm>
            <a:off x="777240" y="1856232"/>
            <a:ext cx="1828800" cy="530352"/>
          </a:xfrm>
          <a:prstGeom prst="rect">
            <a:avLst/>
          </a:prstGeom>
          <a:solidFill>
            <a:srgbClr val="F8FAFC"/>
          </a:solidFill>
          <a:ln w="12700">
            <a:solidFill>
              <a:srgbClr val="CBD5E1"/>
            </a:solidFill>
            <a:prstDash val="solid"/>
          </a:ln>
        </p:spPr>
      </p:sp>
      <p:sp>
        <p:nvSpPr>
          <p:cNvPr id="15" name="Text 13"/>
          <p:cNvSpPr/>
          <p:nvPr/>
        </p:nvSpPr>
        <p:spPr>
          <a:xfrm>
            <a:off x="850392" y="1993392"/>
            <a:ext cx="1682496" cy="182880"/>
          </a:xfrm>
          <a:prstGeom prst="rect">
            <a:avLst/>
          </a:prstGeom>
          <a:noFill/>
        </p:spPr>
        <p:txBody>
          <a:bodyPr wrap="square" lIns="381" tIns="381" rIns="381" bIns="381" rtlCol="0" anchor="ctr">
            <a:normAutofit/>
          </a:bodyPr>
          <a:lstStyle/>
          <a:p>
            <a:pPr marL="0" indent="0" algn="l">
              <a:buNone/>
            </a:pPr>
            <a:r>
              <a:rPr lang="en-US" sz="1400" b="1" dirty="0">
                <a:solidFill>
                  <a:srgbClr val="111827"/>
                </a:solidFill>
                <a:latin typeface="Arial" panose="020B0604020202020204" pitchFamily="34" charset="0"/>
                <a:ea typeface="Arial" panose="020B0604020202020204" pitchFamily="34" charset="-122"/>
                <a:cs typeface="Arial" panose="020B0604020202020204" pitchFamily="34" charset="-120"/>
              </a:rPr>
              <a:t>Edges</a:t>
            </a:r>
            <a:endParaRPr lang="en-US" sz="1400" dirty="0"/>
          </a:p>
        </p:txBody>
      </p:sp>
      <p:sp>
        <p:nvSpPr>
          <p:cNvPr id="16" name="Shape 14"/>
          <p:cNvSpPr/>
          <p:nvPr/>
        </p:nvSpPr>
        <p:spPr>
          <a:xfrm>
            <a:off x="3017520" y="1856232"/>
            <a:ext cx="1828800" cy="530352"/>
          </a:xfrm>
          <a:prstGeom prst="rect">
            <a:avLst/>
          </a:prstGeom>
          <a:solidFill>
            <a:srgbClr val="F8FAFC"/>
          </a:solidFill>
          <a:ln w="12700">
            <a:solidFill>
              <a:srgbClr val="CBD5E1"/>
            </a:solidFill>
            <a:prstDash val="solid"/>
          </a:ln>
        </p:spPr>
      </p:sp>
      <p:sp>
        <p:nvSpPr>
          <p:cNvPr id="17" name="Text 15"/>
          <p:cNvSpPr/>
          <p:nvPr/>
        </p:nvSpPr>
        <p:spPr>
          <a:xfrm>
            <a:off x="3090672" y="1993392"/>
            <a:ext cx="1682496" cy="182880"/>
          </a:xfrm>
          <a:prstGeom prst="rect">
            <a:avLst/>
          </a:prstGeom>
          <a:noFill/>
        </p:spPr>
        <p:txBody>
          <a:bodyPr wrap="square" lIns="381" tIns="381" rIns="381" bIns="381" rtlCol="0" anchor="ctr">
            <a:normAutofit/>
          </a:bodyPr>
          <a:lstStyle/>
          <a:p>
            <a:pPr marL="0" indent="0" algn="ctr">
              <a:buNone/>
            </a:pPr>
            <a:r>
              <a:rPr lang="en-US" sz="1400" dirty="0">
                <a:solidFill>
                  <a:srgbClr val="475569"/>
                </a:solidFill>
                <a:latin typeface="Arial" panose="020B0604020202020204" pitchFamily="34" charset="0"/>
                <a:ea typeface="Arial" panose="020B0604020202020204" pitchFamily="34" charset="-122"/>
                <a:cs typeface="Arial" panose="020B0604020202020204" pitchFamily="34" charset="-120"/>
              </a:rPr>
              <a:t>2,000</a:t>
            </a:r>
            <a:endParaRPr lang="en-US" sz="1400" dirty="0"/>
          </a:p>
        </p:txBody>
      </p:sp>
      <p:sp>
        <p:nvSpPr>
          <p:cNvPr id="18" name="Shape 16"/>
          <p:cNvSpPr/>
          <p:nvPr/>
        </p:nvSpPr>
        <p:spPr>
          <a:xfrm>
            <a:off x="5486400" y="1856232"/>
            <a:ext cx="1828800" cy="530352"/>
          </a:xfrm>
          <a:prstGeom prst="rect">
            <a:avLst/>
          </a:prstGeom>
          <a:solidFill>
            <a:srgbClr val="F8FAFC"/>
          </a:solidFill>
          <a:ln w="12700">
            <a:solidFill>
              <a:srgbClr val="CBD5E1"/>
            </a:solidFill>
            <a:prstDash val="solid"/>
          </a:ln>
        </p:spPr>
      </p:sp>
      <p:sp>
        <p:nvSpPr>
          <p:cNvPr id="19" name="Text 17"/>
          <p:cNvSpPr/>
          <p:nvPr/>
        </p:nvSpPr>
        <p:spPr>
          <a:xfrm>
            <a:off x="5559552" y="1993392"/>
            <a:ext cx="1682496" cy="182880"/>
          </a:xfrm>
          <a:prstGeom prst="rect">
            <a:avLst/>
          </a:prstGeom>
          <a:noFill/>
        </p:spPr>
        <p:txBody>
          <a:bodyPr wrap="square" lIns="381" tIns="381" rIns="381" bIns="381" rtlCol="0" anchor="ctr">
            <a:normAutofit/>
          </a:bodyPr>
          <a:lstStyle/>
          <a:p>
            <a:pPr marL="0" indent="0" algn="ctr">
              <a:buNone/>
            </a:pPr>
            <a:r>
              <a:rPr lang="en-US" sz="1400" dirty="0">
                <a:solidFill>
                  <a:srgbClr val="475569"/>
                </a:solidFill>
                <a:latin typeface="Arial" panose="020B0604020202020204" pitchFamily="34" charset="0"/>
                <a:ea typeface="Arial" panose="020B0604020202020204" pitchFamily="34" charset="-122"/>
                <a:cs typeface="Arial" panose="020B0604020202020204" pitchFamily="34" charset="-120"/>
              </a:rPr>
              <a:t>10,000</a:t>
            </a:r>
            <a:endParaRPr lang="en-US" sz="1400" dirty="0"/>
          </a:p>
        </p:txBody>
      </p:sp>
      <p:sp>
        <p:nvSpPr>
          <p:cNvPr id="20" name="Shape 18"/>
          <p:cNvSpPr/>
          <p:nvPr/>
        </p:nvSpPr>
        <p:spPr>
          <a:xfrm>
            <a:off x="7863840" y="1856232"/>
            <a:ext cx="1828800" cy="530352"/>
          </a:xfrm>
          <a:prstGeom prst="rect">
            <a:avLst/>
          </a:prstGeom>
          <a:solidFill>
            <a:srgbClr val="F8FAFC"/>
          </a:solidFill>
          <a:ln w="12700">
            <a:solidFill>
              <a:srgbClr val="CBD5E1"/>
            </a:solidFill>
            <a:prstDash val="solid"/>
          </a:ln>
        </p:spPr>
      </p:sp>
      <p:sp>
        <p:nvSpPr>
          <p:cNvPr id="21" name="Text 19"/>
          <p:cNvSpPr/>
          <p:nvPr/>
        </p:nvSpPr>
        <p:spPr>
          <a:xfrm>
            <a:off x="7936992" y="1993392"/>
            <a:ext cx="1682496" cy="182880"/>
          </a:xfrm>
          <a:prstGeom prst="rect">
            <a:avLst/>
          </a:prstGeom>
          <a:noFill/>
        </p:spPr>
        <p:txBody>
          <a:bodyPr wrap="square" lIns="381" tIns="381" rIns="381" bIns="381" rtlCol="0" anchor="ctr">
            <a:normAutofit/>
          </a:bodyPr>
          <a:lstStyle/>
          <a:p>
            <a:pPr marL="0" indent="0" algn="ctr">
              <a:buNone/>
            </a:pPr>
            <a:r>
              <a:rPr lang="en-US" sz="1400" dirty="0">
                <a:solidFill>
                  <a:srgbClr val="475569"/>
                </a:solidFill>
                <a:latin typeface="Arial" panose="020B0604020202020204" pitchFamily="34" charset="0"/>
                <a:ea typeface="Arial" panose="020B0604020202020204" pitchFamily="34" charset="-122"/>
                <a:cs typeface="Arial" panose="020B0604020202020204" pitchFamily="34" charset="-120"/>
              </a:rPr>
              <a:t>30,000</a:t>
            </a:r>
            <a:endParaRPr lang="en-US" sz="1400" dirty="0"/>
          </a:p>
        </p:txBody>
      </p:sp>
      <p:sp>
        <p:nvSpPr>
          <p:cNvPr id="22" name="Shape 20"/>
          <p:cNvSpPr/>
          <p:nvPr/>
        </p:nvSpPr>
        <p:spPr>
          <a:xfrm>
            <a:off x="10058400" y="1856232"/>
            <a:ext cx="1828800" cy="530352"/>
          </a:xfrm>
          <a:prstGeom prst="rect">
            <a:avLst/>
          </a:prstGeom>
          <a:solidFill>
            <a:srgbClr val="F8FAFC"/>
          </a:solidFill>
          <a:ln w="12700">
            <a:solidFill>
              <a:srgbClr val="CBD5E1"/>
            </a:solidFill>
            <a:prstDash val="solid"/>
          </a:ln>
        </p:spPr>
      </p:sp>
      <p:sp>
        <p:nvSpPr>
          <p:cNvPr id="23" name="Text 21"/>
          <p:cNvSpPr/>
          <p:nvPr/>
        </p:nvSpPr>
        <p:spPr>
          <a:xfrm>
            <a:off x="10131552" y="1993392"/>
            <a:ext cx="1682496" cy="182880"/>
          </a:xfrm>
          <a:prstGeom prst="rect">
            <a:avLst/>
          </a:prstGeom>
          <a:noFill/>
        </p:spPr>
        <p:txBody>
          <a:bodyPr wrap="square" lIns="381" tIns="381" rIns="381" bIns="381" rtlCol="0" anchor="ctr">
            <a:normAutofit/>
          </a:bodyPr>
          <a:lstStyle/>
          <a:p>
            <a:pPr marL="0" indent="0" algn="ctr">
              <a:buNone/>
            </a:pPr>
            <a:r>
              <a:rPr lang="en-US" sz="1400" dirty="0">
                <a:solidFill>
                  <a:srgbClr val="475569"/>
                </a:solidFill>
                <a:latin typeface="Arial" panose="020B0604020202020204" pitchFamily="34" charset="0"/>
                <a:ea typeface="Arial" panose="020B0604020202020204" pitchFamily="34" charset="-122"/>
                <a:cs typeface="Arial" panose="020B0604020202020204" pitchFamily="34" charset="-120"/>
              </a:rPr>
              <a:t>same seed</a:t>
            </a:r>
            <a:endParaRPr lang="en-US" sz="1400" dirty="0"/>
          </a:p>
        </p:txBody>
      </p:sp>
      <p:sp>
        <p:nvSpPr>
          <p:cNvPr id="24" name="Shape 22"/>
          <p:cNvSpPr/>
          <p:nvPr/>
        </p:nvSpPr>
        <p:spPr>
          <a:xfrm>
            <a:off x="777240" y="2386584"/>
            <a:ext cx="1828800" cy="530352"/>
          </a:xfrm>
          <a:prstGeom prst="rect">
            <a:avLst/>
          </a:prstGeom>
          <a:solidFill>
            <a:srgbClr val="FFFFFF"/>
          </a:solidFill>
          <a:ln w="12700">
            <a:solidFill>
              <a:srgbClr val="CBD5E1"/>
            </a:solidFill>
            <a:prstDash val="solid"/>
          </a:ln>
        </p:spPr>
      </p:sp>
      <p:sp>
        <p:nvSpPr>
          <p:cNvPr id="25" name="Text 23"/>
          <p:cNvSpPr/>
          <p:nvPr/>
        </p:nvSpPr>
        <p:spPr>
          <a:xfrm>
            <a:off x="850392" y="2523744"/>
            <a:ext cx="1682496" cy="182880"/>
          </a:xfrm>
          <a:prstGeom prst="rect">
            <a:avLst/>
          </a:prstGeom>
          <a:noFill/>
        </p:spPr>
        <p:txBody>
          <a:bodyPr wrap="square" lIns="381" tIns="381" rIns="381" bIns="381" rtlCol="0" anchor="ctr">
            <a:normAutofit/>
          </a:bodyPr>
          <a:lstStyle/>
          <a:p>
            <a:pPr marL="0" indent="0" algn="l">
              <a:buNone/>
            </a:pPr>
            <a:r>
              <a:rPr lang="en-US" sz="1400" b="1" dirty="0">
                <a:solidFill>
                  <a:srgbClr val="111827"/>
                </a:solidFill>
                <a:latin typeface="Arial" panose="020B0604020202020204" pitchFamily="34" charset="0"/>
                <a:ea typeface="Arial" panose="020B0604020202020204" pitchFamily="34" charset="-122"/>
                <a:cs typeface="Arial" panose="020B0604020202020204" pitchFamily="34" charset="-120"/>
              </a:rPr>
              <a:t>Cache</a:t>
            </a:r>
            <a:endParaRPr lang="en-US" sz="1400" dirty="0"/>
          </a:p>
        </p:txBody>
      </p:sp>
      <p:sp>
        <p:nvSpPr>
          <p:cNvPr id="26" name="Shape 24"/>
          <p:cNvSpPr/>
          <p:nvPr/>
        </p:nvSpPr>
        <p:spPr>
          <a:xfrm>
            <a:off x="3017520" y="2386584"/>
            <a:ext cx="1828800" cy="530352"/>
          </a:xfrm>
          <a:prstGeom prst="rect">
            <a:avLst/>
          </a:prstGeom>
          <a:solidFill>
            <a:srgbClr val="FFFFFF"/>
          </a:solidFill>
          <a:ln w="12700">
            <a:solidFill>
              <a:srgbClr val="CBD5E1"/>
            </a:solidFill>
            <a:prstDash val="solid"/>
          </a:ln>
        </p:spPr>
      </p:sp>
      <p:sp>
        <p:nvSpPr>
          <p:cNvPr id="27" name="Text 25"/>
          <p:cNvSpPr/>
          <p:nvPr/>
        </p:nvSpPr>
        <p:spPr>
          <a:xfrm>
            <a:off x="3090672" y="2523744"/>
            <a:ext cx="1682496" cy="182880"/>
          </a:xfrm>
          <a:prstGeom prst="rect">
            <a:avLst/>
          </a:prstGeom>
          <a:noFill/>
        </p:spPr>
        <p:txBody>
          <a:bodyPr wrap="square" lIns="381" tIns="381" rIns="381" bIns="381" rtlCol="0" anchor="ctr">
            <a:normAutofit/>
          </a:bodyPr>
          <a:lstStyle/>
          <a:p>
            <a:pPr marL="0" indent="0" algn="ctr">
              <a:buNone/>
            </a:pPr>
            <a:r>
              <a:rPr lang="en-US" sz="1400" dirty="0">
                <a:solidFill>
                  <a:srgbClr val="475569"/>
                </a:solidFill>
                <a:latin typeface="Arial" panose="020B0604020202020204" pitchFamily="34" charset="0"/>
                <a:ea typeface="Arial" panose="020B0604020202020204" pitchFamily="34" charset="-122"/>
                <a:cs typeface="Arial" panose="020B0604020202020204" pitchFamily="34" charset="-120"/>
              </a:rPr>
              <a:t>off / on</a:t>
            </a:r>
            <a:endParaRPr lang="en-US" sz="1400" dirty="0"/>
          </a:p>
        </p:txBody>
      </p:sp>
      <p:sp>
        <p:nvSpPr>
          <p:cNvPr id="28" name="Shape 26"/>
          <p:cNvSpPr/>
          <p:nvPr/>
        </p:nvSpPr>
        <p:spPr>
          <a:xfrm>
            <a:off x="5486400" y="2386584"/>
            <a:ext cx="1828800" cy="530352"/>
          </a:xfrm>
          <a:prstGeom prst="rect">
            <a:avLst/>
          </a:prstGeom>
          <a:solidFill>
            <a:srgbClr val="FFFFFF"/>
          </a:solidFill>
          <a:ln w="12700">
            <a:solidFill>
              <a:srgbClr val="CBD5E1"/>
            </a:solidFill>
            <a:prstDash val="solid"/>
          </a:ln>
        </p:spPr>
      </p:sp>
      <p:sp>
        <p:nvSpPr>
          <p:cNvPr id="29" name="Text 27"/>
          <p:cNvSpPr/>
          <p:nvPr/>
        </p:nvSpPr>
        <p:spPr>
          <a:xfrm>
            <a:off x="5559552" y="2523744"/>
            <a:ext cx="1682496" cy="182880"/>
          </a:xfrm>
          <a:prstGeom prst="rect">
            <a:avLst/>
          </a:prstGeom>
          <a:noFill/>
        </p:spPr>
        <p:txBody>
          <a:bodyPr wrap="square" lIns="381" tIns="381" rIns="381" bIns="381" rtlCol="0" anchor="ctr">
            <a:normAutofit/>
          </a:bodyPr>
          <a:lstStyle/>
          <a:p>
            <a:pPr marL="0" indent="0" algn="ctr">
              <a:buNone/>
            </a:pPr>
            <a:r>
              <a:rPr lang="en-US" sz="1400" dirty="0">
                <a:solidFill>
                  <a:srgbClr val="475569"/>
                </a:solidFill>
                <a:latin typeface="Arial" panose="020B0604020202020204" pitchFamily="34" charset="0"/>
                <a:ea typeface="Arial" panose="020B0604020202020204" pitchFamily="34" charset="-122"/>
                <a:cs typeface="Arial" panose="020B0604020202020204" pitchFamily="34" charset="-120"/>
              </a:rPr>
              <a:t>off / on</a:t>
            </a:r>
            <a:endParaRPr lang="en-US" sz="1400" dirty="0"/>
          </a:p>
        </p:txBody>
      </p:sp>
      <p:sp>
        <p:nvSpPr>
          <p:cNvPr id="30" name="Shape 28"/>
          <p:cNvSpPr/>
          <p:nvPr/>
        </p:nvSpPr>
        <p:spPr>
          <a:xfrm>
            <a:off x="7863840" y="2386584"/>
            <a:ext cx="1828800" cy="530352"/>
          </a:xfrm>
          <a:prstGeom prst="rect">
            <a:avLst/>
          </a:prstGeom>
          <a:solidFill>
            <a:srgbClr val="FFFFFF"/>
          </a:solidFill>
          <a:ln w="12700">
            <a:solidFill>
              <a:srgbClr val="CBD5E1"/>
            </a:solidFill>
            <a:prstDash val="solid"/>
          </a:ln>
        </p:spPr>
      </p:sp>
      <p:sp>
        <p:nvSpPr>
          <p:cNvPr id="31" name="Text 29"/>
          <p:cNvSpPr/>
          <p:nvPr/>
        </p:nvSpPr>
        <p:spPr>
          <a:xfrm>
            <a:off x="7936992" y="2523744"/>
            <a:ext cx="1682496" cy="182880"/>
          </a:xfrm>
          <a:prstGeom prst="rect">
            <a:avLst/>
          </a:prstGeom>
          <a:noFill/>
        </p:spPr>
        <p:txBody>
          <a:bodyPr wrap="square" lIns="381" tIns="381" rIns="381" bIns="381" rtlCol="0" anchor="ctr">
            <a:normAutofit/>
          </a:bodyPr>
          <a:lstStyle/>
          <a:p>
            <a:pPr marL="0" indent="0" algn="ctr">
              <a:buNone/>
            </a:pPr>
            <a:r>
              <a:rPr lang="en-US" sz="1400" dirty="0">
                <a:solidFill>
                  <a:srgbClr val="475569"/>
                </a:solidFill>
                <a:latin typeface="Arial" panose="020B0604020202020204" pitchFamily="34" charset="0"/>
                <a:ea typeface="Arial" panose="020B0604020202020204" pitchFamily="34" charset="-122"/>
                <a:cs typeface="Arial" panose="020B0604020202020204" pitchFamily="34" charset="-120"/>
              </a:rPr>
              <a:t>off / on</a:t>
            </a:r>
            <a:endParaRPr lang="en-US" sz="1400" dirty="0"/>
          </a:p>
        </p:txBody>
      </p:sp>
      <p:sp>
        <p:nvSpPr>
          <p:cNvPr id="32" name="Shape 30"/>
          <p:cNvSpPr/>
          <p:nvPr/>
        </p:nvSpPr>
        <p:spPr>
          <a:xfrm>
            <a:off x="10058400" y="2386584"/>
            <a:ext cx="1828800" cy="530352"/>
          </a:xfrm>
          <a:prstGeom prst="rect">
            <a:avLst/>
          </a:prstGeom>
          <a:solidFill>
            <a:srgbClr val="FFFFFF"/>
          </a:solidFill>
          <a:ln w="12700">
            <a:solidFill>
              <a:srgbClr val="CBD5E1"/>
            </a:solidFill>
            <a:prstDash val="solid"/>
          </a:ln>
        </p:spPr>
      </p:sp>
      <p:sp>
        <p:nvSpPr>
          <p:cNvPr id="33" name="Text 31"/>
          <p:cNvSpPr/>
          <p:nvPr/>
        </p:nvSpPr>
        <p:spPr>
          <a:xfrm>
            <a:off x="10131552" y="2523744"/>
            <a:ext cx="1682496" cy="182880"/>
          </a:xfrm>
          <a:prstGeom prst="rect">
            <a:avLst/>
          </a:prstGeom>
          <a:noFill/>
        </p:spPr>
        <p:txBody>
          <a:bodyPr wrap="square" lIns="381" tIns="381" rIns="381" bIns="381" rtlCol="0" anchor="ctr">
            <a:normAutofit/>
          </a:bodyPr>
          <a:lstStyle/>
          <a:p>
            <a:pPr marL="0" indent="0" algn="ctr">
              <a:buNone/>
            </a:pPr>
            <a:r>
              <a:rPr lang="en-US" sz="1400" dirty="0">
                <a:solidFill>
                  <a:srgbClr val="475569"/>
                </a:solidFill>
                <a:latin typeface="Arial" panose="020B0604020202020204" pitchFamily="34" charset="0"/>
                <a:ea typeface="Arial" panose="020B0604020202020204" pitchFamily="34" charset="-122"/>
                <a:cs typeface="Arial" panose="020B0604020202020204" pitchFamily="34" charset="-120"/>
              </a:rPr>
              <a:t>only toggle</a:t>
            </a:r>
            <a:endParaRPr lang="en-US" sz="1400" dirty="0"/>
          </a:p>
        </p:txBody>
      </p:sp>
      <p:sp>
        <p:nvSpPr>
          <p:cNvPr id="34" name="Shape 32"/>
          <p:cNvSpPr/>
          <p:nvPr/>
        </p:nvSpPr>
        <p:spPr>
          <a:xfrm>
            <a:off x="777240" y="2916936"/>
            <a:ext cx="1828800" cy="530352"/>
          </a:xfrm>
          <a:prstGeom prst="rect">
            <a:avLst/>
          </a:prstGeom>
          <a:solidFill>
            <a:srgbClr val="F8FAFC"/>
          </a:solidFill>
          <a:ln w="12700">
            <a:solidFill>
              <a:srgbClr val="CBD5E1"/>
            </a:solidFill>
            <a:prstDash val="solid"/>
          </a:ln>
        </p:spPr>
      </p:sp>
      <p:sp>
        <p:nvSpPr>
          <p:cNvPr id="35" name="Text 33"/>
          <p:cNvSpPr/>
          <p:nvPr/>
        </p:nvSpPr>
        <p:spPr>
          <a:xfrm>
            <a:off x="850392" y="3054096"/>
            <a:ext cx="1682496" cy="182880"/>
          </a:xfrm>
          <a:prstGeom prst="rect">
            <a:avLst/>
          </a:prstGeom>
          <a:noFill/>
        </p:spPr>
        <p:txBody>
          <a:bodyPr wrap="square" lIns="381" tIns="381" rIns="381" bIns="381" rtlCol="0" anchor="ctr">
            <a:normAutofit/>
          </a:bodyPr>
          <a:lstStyle/>
          <a:p>
            <a:pPr marL="0" indent="0" algn="l">
              <a:buNone/>
            </a:pPr>
            <a:r>
              <a:rPr lang="en-US" sz="1400" b="1" dirty="0">
                <a:solidFill>
                  <a:srgbClr val="111827"/>
                </a:solidFill>
                <a:latin typeface="Arial" panose="020B0604020202020204" pitchFamily="34" charset="0"/>
                <a:ea typeface="Arial" panose="020B0604020202020204" pitchFamily="34" charset="-122"/>
                <a:cs typeface="Arial" panose="020B0604020202020204" pitchFamily="34" charset="-120"/>
              </a:rPr>
              <a:t>Iterations</a:t>
            </a:r>
            <a:endParaRPr lang="en-US" sz="1400" dirty="0"/>
          </a:p>
        </p:txBody>
      </p:sp>
      <p:sp>
        <p:nvSpPr>
          <p:cNvPr id="36" name="Shape 34"/>
          <p:cNvSpPr/>
          <p:nvPr/>
        </p:nvSpPr>
        <p:spPr>
          <a:xfrm>
            <a:off x="3017520" y="2916936"/>
            <a:ext cx="1828800" cy="530352"/>
          </a:xfrm>
          <a:prstGeom prst="rect">
            <a:avLst/>
          </a:prstGeom>
          <a:solidFill>
            <a:srgbClr val="F8FAFC"/>
          </a:solidFill>
          <a:ln w="12700">
            <a:solidFill>
              <a:srgbClr val="CBD5E1"/>
            </a:solidFill>
            <a:prstDash val="solid"/>
          </a:ln>
        </p:spPr>
      </p:sp>
      <p:sp>
        <p:nvSpPr>
          <p:cNvPr id="37" name="Text 35"/>
          <p:cNvSpPr/>
          <p:nvPr/>
        </p:nvSpPr>
        <p:spPr>
          <a:xfrm>
            <a:off x="3090672" y="3054096"/>
            <a:ext cx="1682496" cy="182880"/>
          </a:xfrm>
          <a:prstGeom prst="rect">
            <a:avLst/>
          </a:prstGeom>
          <a:noFill/>
        </p:spPr>
        <p:txBody>
          <a:bodyPr wrap="square" lIns="381" tIns="381" rIns="381" bIns="381" rtlCol="0" anchor="ctr">
            <a:normAutofit/>
          </a:bodyPr>
          <a:lstStyle/>
          <a:p>
            <a:pPr marL="0" indent="0" algn="ctr">
              <a:buNone/>
            </a:pPr>
            <a:r>
              <a:rPr lang="en-US" sz="1400" dirty="0">
                <a:solidFill>
                  <a:srgbClr val="475569"/>
                </a:solidFill>
                <a:latin typeface="Arial" panose="020B0604020202020204" pitchFamily="34" charset="0"/>
                <a:ea typeface="Arial" panose="020B0604020202020204" pitchFamily="34" charset="-122"/>
                <a:cs typeface="Arial" panose="020B0604020202020204" pitchFamily="34" charset="-120"/>
              </a:rPr>
              <a:t>6</a:t>
            </a:r>
            <a:endParaRPr lang="en-US" sz="1400" dirty="0"/>
          </a:p>
        </p:txBody>
      </p:sp>
      <p:sp>
        <p:nvSpPr>
          <p:cNvPr id="38" name="Shape 36"/>
          <p:cNvSpPr/>
          <p:nvPr/>
        </p:nvSpPr>
        <p:spPr>
          <a:xfrm>
            <a:off x="5486400" y="2916936"/>
            <a:ext cx="1828800" cy="530352"/>
          </a:xfrm>
          <a:prstGeom prst="rect">
            <a:avLst/>
          </a:prstGeom>
          <a:solidFill>
            <a:srgbClr val="F8FAFC"/>
          </a:solidFill>
          <a:ln w="12700">
            <a:solidFill>
              <a:srgbClr val="CBD5E1"/>
            </a:solidFill>
            <a:prstDash val="solid"/>
          </a:ln>
        </p:spPr>
      </p:sp>
      <p:sp>
        <p:nvSpPr>
          <p:cNvPr id="39" name="Text 37"/>
          <p:cNvSpPr/>
          <p:nvPr/>
        </p:nvSpPr>
        <p:spPr>
          <a:xfrm>
            <a:off x="5559552" y="3054096"/>
            <a:ext cx="1682496" cy="182880"/>
          </a:xfrm>
          <a:prstGeom prst="rect">
            <a:avLst/>
          </a:prstGeom>
          <a:noFill/>
        </p:spPr>
        <p:txBody>
          <a:bodyPr wrap="square" lIns="381" tIns="381" rIns="381" bIns="381" rtlCol="0" anchor="ctr">
            <a:normAutofit/>
          </a:bodyPr>
          <a:lstStyle/>
          <a:p>
            <a:pPr marL="0" indent="0" algn="ctr">
              <a:buNone/>
            </a:pPr>
            <a:r>
              <a:rPr lang="en-US" sz="1400" dirty="0">
                <a:solidFill>
                  <a:srgbClr val="475569"/>
                </a:solidFill>
                <a:latin typeface="Arial" panose="020B0604020202020204" pitchFamily="34" charset="0"/>
                <a:ea typeface="Arial" panose="020B0604020202020204" pitchFamily="34" charset="-122"/>
                <a:cs typeface="Arial" panose="020B0604020202020204" pitchFamily="34" charset="-120"/>
              </a:rPr>
              <a:t>6</a:t>
            </a:r>
            <a:endParaRPr lang="en-US" sz="1400" dirty="0"/>
          </a:p>
        </p:txBody>
      </p:sp>
      <p:sp>
        <p:nvSpPr>
          <p:cNvPr id="40" name="Shape 38"/>
          <p:cNvSpPr/>
          <p:nvPr/>
        </p:nvSpPr>
        <p:spPr>
          <a:xfrm>
            <a:off x="7863840" y="2916936"/>
            <a:ext cx="1828800" cy="530352"/>
          </a:xfrm>
          <a:prstGeom prst="rect">
            <a:avLst/>
          </a:prstGeom>
          <a:solidFill>
            <a:srgbClr val="F8FAFC"/>
          </a:solidFill>
          <a:ln w="12700">
            <a:solidFill>
              <a:srgbClr val="CBD5E1"/>
            </a:solidFill>
            <a:prstDash val="solid"/>
          </a:ln>
        </p:spPr>
      </p:sp>
      <p:sp>
        <p:nvSpPr>
          <p:cNvPr id="41" name="Text 39"/>
          <p:cNvSpPr/>
          <p:nvPr/>
        </p:nvSpPr>
        <p:spPr>
          <a:xfrm>
            <a:off x="7936992" y="3054096"/>
            <a:ext cx="1682496" cy="182880"/>
          </a:xfrm>
          <a:prstGeom prst="rect">
            <a:avLst/>
          </a:prstGeom>
          <a:noFill/>
        </p:spPr>
        <p:txBody>
          <a:bodyPr wrap="square" lIns="381" tIns="381" rIns="381" bIns="381" rtlCol="0" anchor="ctr">
            <a:normAutofit/>
          </a:bodyPr>
          <a:lstStyle/>
          <a:p>
            <a:pPr marL="0" indent="0" algn="ctr">
              <a:buNone/>
            </a:pPr>
            <a:r>
              <a:rPr lang="en-US" sz="1400" dirty="0">
                <a:solidFill>
                  <a:srgbClr val="475569"/>
                </a:solidFill>
                <a:latin typeface="Arial" panose="020B0604020202020204" pitchFamily="34" charset="0"/>
                <a:ea typeface="Arial" panose="020B0604020202020204" pitchFamily="34" charset="-122"/>
                <a:cs typeface="Arial" panose="020B0604020202020204" pitchFamily="34" charset="-120"/>
              </a:rPr>
              <a:t>6</a:t>
            </a:r>
            <a:endParaRPr lang="en-US" sz="1400" dirty="0"/>
          </a:p>
        </p:txBody>
      </p:sp>
      <p:sp>
        <p:nvSpPr>
          <p:cNvPr id="42" name="Shape 40"/>
          <p:cNvSpPr/>
          <p:nvPr/>
        </p:nvSpPr>
        <p:spPr>
          <a:xfrm>
            <a:off x="10058400" y="2916936"/>
            <a:ext cx="1828800" cy="530352"/>
          </a:xfrm>
          <a:prstGeom prst="rect">
            <a:avLst/>
          </a:prstGeom>
          <a:solidFill>
            <a:srgbClr val="F8FAFC"/>
          </a:solidFill>
          <a:ln w="12700">
            <a:solidFill>
              <a:srgbClr val="CBD5E1"/>
            </a:solidFill>
            <a:prstDash val="solid"/>
          </a:ln>
        </p:spPr>
      </p:sp>
      <p:sp>
        <p:nvSpPr>
          <p:cNvPr id="43" name="Text 41"/>
          <p:cNvSpPr/>
          <p:nvPr/>
        </p:nvSpPr>
        <p:spPr>
          <a:xfrm>
            <a:off x="10131552" y="3054096"/>
            <a:ext cx="1682496" cy="182880"/>
          </a:xfrm>
          <a:prstGeom prst="rect">
            <a:avLst/>
          </a:prstGeom>
          <a:noFill/>
        </p:spPr>
        <p:txBody>
          <a:bodyPr wrap="square" lIns="381" tIns="381" rIns="381" bIns="381" rtlCol="0" anchor="ctr">
            <a:normAutofit/>
          </a:bodyPr>
          <a:lstStyle/>
          <a:p>
            <a:pPr marL="0" indent="0" algn="ctr">
              <a:buNone/>
            </a:pPr>
            <a:r>
              <a:rPr lang="en-US" sz="1400" dirty="0">
                <a:solidFill>
                  <a:srgbClr val="475569"/>
                </a:solidFill>
                <a:latin typeface="Arial" panose="020B0604020202020204" pitchFamily="34" charset="0"/>
                <a:ea typeface="Arial" panose="020B0604020202020204" pitchFamily="34" charset="-122"/>
                <a:cs typeface="Arial" panose="020B0604020202020204" pitchFamily="34" charset="-120"/>
              </a:rPr>
              <a:t>same</a:t>
            </a:r>
            <a:endParaRPr lang="en-US" sz="1400" dirty="0"/>
          </a:p>
        </p:txBody>
      </p:sp>
      <p:sp>
        <p:nvSpPr>
          <p:cNvPr id="44" name="Shape 42"/>
          <p:cNvSpPr/>
          <p:nvPr/>
        </p:nvSpPr>
        <p:spPr>
          <a:xfrm>
            <a:off x="777240" y="3447288"/>
            <a:ext cx="1828800" cy="530352"/>
          </a:xfrm>
          <a:prstGeom prst="rect">
            <a:avLst/>
          </a:prstGeom>
          <a:solidFill>
            <a:srgbClr val="FFFFFF"/>
          </a:solidFill>
          <a:ln w="12700">
            <a:solidFill>
              <a:srgbClr val="CBD5E1"/>
            </a:solidFill>
            <a:prstDash val="solid"/>
          </a:ln>
        </p:spPr>
      </p:sp>
      <p:sp>
        <p:nvSpPr>
          <p:cNvPr id="45" name="Text 43"/>
          <p:cNvSpPr/>
          <p:nvPr/>
        </p:nvSpPr>
        <p:spPr>
          <a:xfrm>
            <a:off x="850392" y="3584448"/>
            <a:ext cx="1682496" cy="182880"/>
          </a:xfrm>
          <a:prstGeom prst="rect">
            <a:avLst/>
          </a:prstGeom>
          <a:noFill/>
        </p:spPr>
        <p:txBody>
          <a:bodyPr wrap="square" lIns="381" tIns="381" rIns="381" bIns="381" rtlCol="0" anchor="ctr">
            <a:normAutofit/>
          </a:bodyPr>
          <a:lstStyle/>
          <a:p>
            <a:pPr marL="0" indent="0" algn="l">
              <a:buNone/>
            </a:pPr>
            <a:r>
              <a:rPr lang="en-US" sz="1400" b="1" dirty="0">
                <a:solidFill>
                  <a:srgbClr val="111827"/>
                </a:solidFill>
                <a:latin typeface="Arial" panose="020B0604020202020204" pitchFamily="34" charset="0"/>
                <a:ea typeface="Arial" panose="020B0604020202020204" pitchFamily="34" charset="-122"/>
                <a:cs typeface="Arial" panose="020B0604020202020204" pitchFamily="34" charset="-120"/>
              </a:rPr>
              <a:t>Partitions</a:t>
            </a:r>
            <a:endParaRPr lang="en-US" sz="1400" dirty="0"/>
          </a:p>
        </p:txBody>
      </p:sp>
      <p:sp>
        <p:nvSpPr>
          <p:cNvPr id="46" name="Shape 44"/>
          <p:cNvSpPr/>
          <p:nvPr/>
        </p:nvSpPr>
        <p:spPr>
          <a:xfrm>
            <a:off x="3017520" y="3447288"/>
            <a:ext cx="1828800" cy="530352"/>
          </a:xfrm>
          <a:prstGeom prst="rect">
            <a:avLst/>
          </a:prstGeom>
          <a:solidFill>
            <a:srgbClr val="FFFFFF"/>
          </a:solidFill>
          <a:ln w="12700">
            <a:solidFill>
              <a:srgbClr val="CBD5E1"/>
            </a:solidFill>
            <a:prstDash val="solid"/>
          </a:ln>
        </p:spPr>
      </p:sp>
      <p:sp>
        <p:nvSpPr>
          <p:cNvPr id="47" name="Text 45"/>
          <p:cNvSpPr/>
          <p:nvPr/>
        </p:nvSpPr>
        <p:spPr>
          <a:xfrm>
            <a:off x="3090672" y="3584448"/>
            <a:ext cx="1682496" cy="182880"/>
          </a:xfrm>
          <a:prstGeom prst="rect">
            <a:avLst/>
          </a:prstGeom>
          <a:noFill/>
        </p:spPr>
        <p:txBody>
          <a:bodyPr wrap="square" lIns="381" tIns="381" rIns="381" bIns="381" rtlCol="0" anchor="ctr">
            <a:normAutofit/>
          </a:bodyPr>
          <a:lstStyle/>
          <a:p>
            <a:pPr marL="0" indent="0" algn="ctr">
              <a:buNone/>
            </a:pPr>
            <a:r>
              <a:rPr lang="en-US" sz="1400" dirty="0">
                <a:solidFill>
                  <a:srgbClr val="475569"/>
                </a:solidFill>
                <a:latin typeface="Arial" panose="020B0604020202020204" pitchFamily="34" charset="0"/>
                <a:ea typeface="Arial" panose="020B0604020202020204" pitchFamily="34" charset="-122"/>
                <a:cs typeface="Arial" panose="020B0604020202020204" pitchFamily="34" charset="-120"/>
              </a:rPr>
              <a:t>4</a:t>
            </a:r>
            <a:endParaRPr lang="en-US" sz="1400" dirty="0"/>
          </a:p>
        </p:txBody>
      </p:sp>
      <p:sp>
        <p:nvSpPr>
          <p:cNvPr id="48" name="Shape 46"/>
          <p:cNvSpPr/>
          <p:nvPr/>
        </p:nvSpPr>
        <p:spPr>
          <a:xfrm>
            <a:off x="5486400" y="3447288"/>
            <a:ext cx="1828800" cy="530352"/>
          </a:xfrm>
          <a:prstGeom prst="rect">
            <a:avLst/>
          </a:prstGeom>
          <a:solidFill>
            <a:srgbClr val="FFFFFF"/>
          </a:solidFill>
          <a:ln w="12700">
            <a:solidFill>
              <a:srgbClr val="CBD5E1"/>
            </a:solidFill>
            <a:prstDash val="solid"/>
          </a:ln>
        </p:spPr>
      </p:sp>
      <p:sp>
        <p:nvSpPr>
          <p:cNvPr id="49" name="Text 47"/>
          <p:cNvSpPr/>
          <p:nvPr/>
        </p:nvSpPr>
        <p:spPr>
          <a:xfrm>
            <a:off x="5559552" y="3584448"/>
            <a:ext cx="1682496" cy="182880"/>
          </a:xfrm>
          <a:prstGeom prst="rect">
            <a:avLst/>
          </a:prstGeom>
          <a:noFill/>
        </p:spPr>
        <p:txBody>
          <a:bodyPr wrap="square" lIns="381" tIns="381" rIns="381" bIns="381" rtlCol="0" anchor="ctr">
            <a:normAutofit/>
          </a:bodyPr>
          <a:lstStyle/>
          <a:p>
            <a:pPr marL="0" indent="0" algn="ctr">
              <a:buNone/>
            </a:pPr>
            <a:r>
              <a:rPr lang="en-US" sz="1400" dirty="0">
                <a:solidFill>
                  <a:srgbClr val="475569"/>
                </a:solidFill>
                <a:latin typeface="Arial" panose="020B0604020202020204" pitchFamily="34" charset="0"/>
                <a:ea typeface="Arial" panose="020B0604020202020204" pitchFamily="34" charset="-122"/>
                <a:cs typeface="Arial" panose="020B0604020202020204" pitchFamily="34" charset="-120"/>
              </a:rPr>
              <a:t>4</a:t>
            </a:r>
            <a:endParaRPr lang="en-US" sz="1400" dirty="0"/>
          </a:p>
        </p:txBody>
      </p:sp>
      <p:sp>
        <p:nvSpPr>
          <p:cNvPr id="50" name="Shape 48"/>
          <p:cNvSpPr/>
          <p:nvPr/>
        </p:nvSpPr>
        <p:spPr>
          <a:xfrm>
            <a:off x="7863840" y="3447288"/>
            <a:ext cx="1828800" cy="530352"/>
          </a:xfrm>
          <a:prstGeom prst="rect">
            <a:avLst/>
          </a:prstGeom>
          <a:solidFill>
            <a:srgbClr val="FFFFFF"/>
          </a:solidFill>
          <a:ln w="12700">
            <a:solidFill>
              <a:srgbClr val="CBD5E1"/>
            </a:solidFill>
            <a:prstDash val="solid"/>
          </a:ln>
        </p:spPr>
      </p:sp>
      <p:sp>
        <p:nvSpPr>
          <p:cNvPr id="51" name="Text 49"/>
          <p:cNvSpPr/>
          <p:nvPr/>
        </p:nvSpPr>
        <p:spPr>
          <a:xfrm>
            <a:off x="7936992" y="3584448"/>
            <a:ext cx="1682496" cy="182880"/>
          </a:xfrm>
          <a:prstGeom prst="rect">
            <a:avLst/>
          </a:prstGeom>
          <a:noFill/>
        </p:spPr>
        <p:txBody>
          <a:bodyPr wrap="square" lIns="381" tIns="381" rIns="381" bIns="381" rtlCol="0" anchor="ctr">
            <a:normAutofit/>
          </a:bodyPr>
          <a:lstStyle/>
          <a:p>
            <a:pPr marL="0" indent="0" algn="ctr">
              <a:buNone/>
            </a:pPr>
            <a:r>
              <a:rPr lang="en-US" sz="1400" dirty="0">
                <a:solidFill>
                  <a:srgbClr val="475569"/>
                </a:solidFill>
                <a:latin typeface="Arial" panose="020B0604020202020204" pitchFamily="34" charset="0"/>
                <a:ea typeface="Arial" panose="020B0604020202020204" pitchFamily="34" charset="-122"/>
                <a:cs typeface="Arial" panose="020B0604020202020204" pitchFamily="34" charset="-120"/>
              </a:rPr>
              <a:t>4</a:t>
            </a:r>
            <a:endParaRPr lang="en-US" sz="1400" dirty="0"/>
          </a:p>
        </p:txBody>
      </p:sp>
      <p:sp>
        <p:nvSpPr>
          <p:cNvPr id="52" name="Shape 50"/>
          <p:cNvSpPr/>
          <p:nvPr/>
        </p:nvSpPr>
        <p:spPr>
          <a:xfrm>
            <a:off x="10058400" y="3447288"/>
            <a:ext cx="1828800" cy="530352"/>
          </a:xfrm>
          <a:prstGeom prst="rect">
            <a:avLst/>
          </a:prstGeom>
          <a:solidFill>
            <a:srgbClr val="FFFFFF"/>
          </a:solidFill>
          <a:ln w="12700">
            <a:solidFill>
              <a:srgbClr val="CBD5E1"/>
            </a:solidFill>
            <a:prstDash val="solid"/>
          </a:ln>
        </p:spPr>
      </p:sp>
      <p:sp>
        <p:nvSpPr>
          <p:cNvPr id="53" name="Text 51"/>
          <p:cNvSpPr/>
          <p:nvPr/>
        </p:nvSpPr>
        <p:spPr>
          <a:xfrm>
            <a:off x="10131552" y="3584448"/>
            <a:ext cx="1682496" cy="182880"/>
          </a:xfrm>
          <a:prstGeom prst="rect">
            <a:avLst/>
          </a:prstGeom>
          <a:noFill/>
        </p:spPr>
        <p:txBody>
          <a:bodyPr wrap="square" lIns="381" tIns="381" rIns="381" bIns="381" rtlCol="0" anchor="ctr">
            <a:normAutofit/>
          </a:bodyPr>
          <a:lstStyle/>
          <a:p>
            <a:pPr marL="0" indent="0" algn="ctr">
              <a:buNone/>
            </a:pPr>
            <a:r>
              <a:rPr lang="en-US" sz="1400" dirty="0">
                <a:solidFill>
                  <a:srgbClr val="475569"/>
                </a:solidFill>
                <a:latin typeface="Arial" panose="020B0604020202020204" pitchFamily="34" charset="0"/>
                <a:ea typeface="Arial" panose="020B0604020202020204" pitchFamily="34" charset="-122"/>
                <a:cs typeface="Arial" panose="020B0604020202020204" pitchFamily="34" charset="-120"/>
              </a:rPr>
              <a:t>same</a:t>
            </a:r>
            <a:endParaRPr lang="en-US" sz="1400" dirty="0"/>
          </a:p>
        </p:txBody>
      </p:sp>
      <p:sp>
        <p:nvSpPr>
          <p:cNvPr id="54" name="Shape 52"/>
          <p:cNvSpPr/>
          <p:nvPr/>
        </p:nvSpPr>
        <p:spPr>
          <a:xfrm>
            <a:off x="777240" y="3977640"/>
            <a:ext cx="1828800" cy="530352"/>
          </a:xfrm>
          <a:prstGeom prst="rect">
            <a:avLst/>
          </a:prstGeom>
          <a:solidFill>
            <a:srgbClr val="F8FAFC"/>
          </a:solidFill>
          <a:ln w="12700">
            <a:solidFill>
              <a:srgbClr val="CBD5E1"/>
            </a:solidFill>
            <a:prstDash val="solid"/>
          </a:ln>
        </p:spPr>
      </p:sp>
      <p:sp>
        <p:nvSpPr>
          <p:cNvPr id="55" name="Text 53"/>
          <p:cNvSpPr/>
          <p:nvPr/>
        </p:nvSpPr>
        <p:spPr>
          <a:xfrm>
            <a:off x="850392" y="4114800"/>
            <a:ext cx="1682496" cy="182880"/>
          </a:xfrm>
          <a:prstGeom prst="rect">
            <a:avLst/>
          </a:prstGeom>
          <a:noFill/>
        </p:spPr>
        <p:txBody>
          <a:bodyPr wrap="square" lIns="381" tIns="381" rIns="381" bIns="381" rtlCol="0" anchor="ctr">
            <a:normAutofit/>
          </a:bodyPr>
          <a:lstStyle/>
          <a:p>
            <a:pPr marL="0" indent="0" algn="l">
              <a:buNone/>
            </a:pPr>
            <a:r>
              <a:rPr lang="en-US" sz="1400" b="1" dirty="0">
                <a:solidFill>
                  <a:srgbClr val="111827"/>
                </a:solidFill>
                <a:latin typeface="Arial" panose="020B0604020202020204" pitchFamily="34" charset="0"/>
                <a:ea typeface="Arial" panose="020B0604020202020204" pitchFamily="34" charset="-122"/>
                <a:cs typeface="Arial" panose="020B0604020202020204" pitchFamily="34" charset="-120"/>
              </a:rPr>
              <a:t>Workers</a:t>
            </a:r>
            <a:endParaRPr lang="en-US" sz="1400" dirty="0"/>
          </a:p>
        </p:txBody>
      </p:sp>
      <p:sp>
        <p:nvSpPr>
          <p:cNvPr id="56" name="Shape 54"/>
          <p:cNvSpPr/>
          <p:nvPr/>
        </p:nvSpPr>
        <p:spPr>
          <a:xfrm>
            <a:off x="3017520" y="3977640"/>
            <a:ext cx="1828800" cy="530352"/>
          </a:xfrm>
          <a:prstGeom prst="rect">
            <a:avLst/>
          </a:prstGeom>
          <a:solidFill>
            <a:srgbClr val="F8FAFC"/>
          </a:solidFill>
          <a:ln w="12700">
            <a:solidFill>
              <a:srgbClr val="CBD5E1"/>
            </a:solidFill>
            <a:prstDash val="solid"/>
          </a:ln>
        </p:spPr>
      </p:sp>
      <p:sp>
        <p:nvSpPr>
          <p:cNvPr id="57" name="Text 55"/>
          <p:cNvSpPr/>
          <p:nvPr/>
        </p:nvSpPr>
        <p:spPr>
          <a:xfrm>
            <a:off x="3090672" y="4114800"/>
            <a:ext cx="1682496" cy="182880"/>
          </a:xfrm>
          <a:prstGeom prst="rect">
            <a:avLst/>
          </a:prstGeom>
          <a:noFill/>
        </p:spPr>
        <p:txBody>
          <a:bodyPr wrap="square" lIns="381" tIns="381" rIns="381" bIns="381" rtlCol="0" anchor="ctr">
            <a:normAutofit/>
          </a:bodyPr>
          <a:lstStyle/>
          <a:p>
            <a:pPr marL="0" indent="0" algn="ctr">
              <a:buNone/>
            </a:pPr>
            <a:r>
              <a:rPr lang="en-US" sz="1400" dirty="0">
                <a:solidFill>
                  <a:srgbClr val="475569"/>
                </a:solidFill>
                <a:latin typeface="Arial" panose="020B0604020202020204" pitchFamily="34" charset="0"/>
                <a:ea typeface="Arial" panose="020B0604020202020204" pitchFamily="34" charset="-122"/>
                <a:cs typeface="Arial" panose="020B0604020202020204" pitchFamily="34" charset="-120"/>
              </a:rPr>
              <a:t>2</a:t>
            </a:r>
            <a:endParaRPr lang="en-US" sz="1400" dirty="0"/>
          </a:p>
        </p:txBody>
      </p:sp>
      <p:sp>
        <p:nvSpPr>
          <p:cNvPr id="58" name="Shape 56"/>
          <p:cNvSpPr/>
          <p:nvPr/>
        </p:nvSpPr>
        <p:spPr>
          <a:xfrm>
            <a:off x="5486400" y="3977640"/>
            <a:ext cx="1828800" cy="530352"/>
          </a:xfrm>
          <a:prstGeom prst="rect">
            <a:avLst/>
          </a:prstGeom>
          <a:solidFill>
            <a:srgbClr val="F8FAFC"/>
          </a:solidFill>
          <a:ln w="12700">
            <a:solidFill>
              <a:srgbClr val="CBD5E1"/>
            </a:solidFill>
            <a:prstDash val="solid"/>
          </a:ln>
        </p:spPr>
      </p:sp>
      <p:sp>
        <p:nvSpPr>
          <p:cNvPr id="59" name="Text 57"/>
          <p:cNvSpPr/>
          <p:nvPr/>
        </p:nvSpPr>
        <p:spPr>
          <a:xfrm>
            <a:off x="5559552" y="4114800"/>
            <a:ext cx="1682496" cy="182880"/>
          </a:xfrm>
          <a:prstGeom prst="rect">
            <a:avLst/>
          </a:prstGeom>
          <a:noFill/>
        </p:spPr>
        <p:txBody>
          <a:bodyPr wrap="square" lIns="381" tIns="381" rIns="381" bIns="381" rtlCol="0" anchor="ctr">
            <a:normAutofit/>
          </a:bodyPr>
          <a:lstStyle/>
          <a:p>
            <a:pPr marL="0" indent="0" algn="ctr">
              <a:buNone/>
            </a:pPr>
            <a:r>
              <a:rPr lang="en-US" sz="1400" dirty="0">
                <a:solidFill>
                  <a:srgbClr val="475569"/>
                </a:solidFill>
                <a:latin typeface="Arial" panose="020B0604020202020204" pitchFamily="34" charset="0"/>
                <a:ea typeface="Arial" panose="020B0604020202020204" pitchFamily="34" charset="-122"/>
                <a:cs typeface="Arial" panose="020B0604020202020204" pitchFamily="34" charset="-120"/>
              </a:rPr>
              <a:t>2</a:t>
            </a:r>
            <a:endParaRPr lang="en-US" sz="1400" dirty="0"/>
          </a:p>
        </p:txBody>
      </p:sp>
      <p:sp>
        <p:nvSpPr>
          <p:cNvPr id="60" name="Shape 58"/>
          <p:cNvSpPr/>
          <p:nvPr/>
        </p:nvSpPr>
        <p:spPr>
          <a:xfrm>
            <a:off x="7863840" y="3977640"/>
            <a:ext cx="1828800" cy="530352"/>
          </a:xfrm>
          <a:prstGeom prst="rect">
            <a:avLst/>
          </a:prstGeom>
          <a:solidFill>
            <a:srgbClr val="F8FAFC"/>
          </a:solidFill>
          <a:ln w="12700">
            <a:solidFill>
              <a:srgbClr val="CBD5E1"/>
            </a:solidFill>
            <a:prstDash val="solid"/>
          </a:ln>
        </p:spPr>
      </p:sp>
      <p:sp>
        <p:nvSpPr>
          <p:cNvPr id="61" name="Text 59"/>
          <p:cNvSpPr/>
          <p:nvPr/>
        </p:nvSpPr>
        <p:spPr>
          <a:xfrm>
            <a:off x="7936992" y="4114800"/>
            <a:ext cx="1682496" cy="182880"/>
          </a:xfrm>
          <a:prstGeom prst="rect">
            <a:avLst/>
          </a:prstGeom>
          <a:noFill/>
        </p:spPr>
        <p:txBody>
          <a:bodyPr wrap="square" lIns="381" tIns="381" rIns="381" bIns="381" rtlCol="0" anchor="ctr">
            <a:normAutofit/>
          </a:bodyPr>
          <a:lstStyle/>
          <a:p>
            <a:pPr marL="0" indent="0" algn="ctr">
              <a:buNone/>
            </a:pPr>
            <a:r>
              <a:rPr lang="en-US" sz="1400" dirty="0">
                <a:solidFill>
                  <a:srgbClr val="475569"/>
                </a:solidFill>
                <a:latin typeface="Arial" panose="020B0604020202020204" pitchFamily="34" charset="0"/>
                <a:ea typeface="Arial" panose="020B0604020202020204" pitchFamily="34" charset="-122"/>
                <a:cs typeface="Arial" panose="020B0604020202020204" pitchFamily="34" charset="-120"/>
              </a:rPr>
              <a:t>2</a:t>
            </a:r>
            <a:endParaRPr lang="en-US" sz="1400" dirty="0"/>
          </a:p>
        </p:txBody>
      </p:sp>
      <p:sp>
        <p:nvSpPr>
          <p:cNvPr id="62" name="Shape 60"/>
          <p:cNvSpPr/>
          <p:nvPr/>
        </p:nvSpPr>
        <p:spPr>
          <a:xfrm>
            <a:off x="10058400" y="3977640"/>
            <a:ext cx="1828800" cy="530352"/>
          </a:xfrm>
          <a:prstGeom prst="rect">
            <a:avLst/>
          </a:prstGeom>
          <a:solidFill>
            <a:srgbClr val="F8FAFC"/>
          </a:solidFill>
          <a:ln w="12700">
            <a:solidFill>
              <a:srgbClr val="CBD5E1"/>
            </a:solidFill>
            <a:prstDash val="solid"/>
          </a:ln>
        </p:spPr>
      </p:sp>
      <p:sp>
        <p:nvSpPr>
          <p:cNvPr id="63" name="Text 61"/>
          <p:cNvSpPr/>
          <p:nvPr/>
        </p:nvSpPr>
        <p:spPr>
          <a:xfrm>
            <a:off x="10131552" y="4114800"/>
            <a:ext cx="1682496" cy="182880"/>
          </a:xfrm>
          <a:prstGeom prst="rect">
            <a:avLst/>
          </a:prstGeom>
          <a:noFill/>
        </p:spPr>
        <p:txBody>
          <a:bodyPr wrap="square" lIns="381" tIns="381" rIns="381" bIns="381" rtlCol="0" anchor="ctr">
            <a:normAutofit/>
          </a:bodyPr>
          <a:lstStyle/>
          <a:p>
            <a:pPr marL="0" indent="0" algn="ctr">
              <a:buNone/>
            </a:pPr>
            <a:r>
              <a:rPr lang="en-US" sz="1400" dirty="0">
                <a:solidFill>
                  <a:srgbClr val="475569"/>
                </a:solidFill>
                <a:latin typeface="Arial" panose="020B0604020202020204" pitchFamily="34" charset="0"/>
                <a:ea typeface="Arial" panose="020B0604020202020204" pitchFamily="34" charset="-122"/>
                <a:cs typeface="Arial" panose="020B0604020202020204" pitchFamily="34" charset="-120"/>
              </a:rPr>
              <a:t>same</a:t>
            </a:r>
            <a:endParaRPr lang="en-US" sz="1400" dirty="0"/>
          </a:p>
        </p:txBody>
      </p:sp>
      <p:sp>
        <p:nvSpPr>
          <p:cNvPr id="64" name="Shape 62"/>
          <p:cNvSpPr/>
          <p:nvPr/>
        </p:nvSpPr>
        <p:spPr>
          <a:xfrm>
            <a:off x="777240" y="4507992"/>
            <a:ext cx="1828800" cy="530352"/>
          </a:xfrm>
          <a:prstGeom prst="rect">
            <a:avLst/>
          </a:prstGeom>
          <a:solidFill>
            <a:srgbClr val="FFFFFF"/>
          </a:solidFill>
          <a:ln w="12700">
            <a:solidFill>
              <a:srgbClr val="CBD5E1"/>
            </a:solidFill>
            <a:prstDash val="solid"/>
          </a:ln>
        </p:spPr>
      </p:sp>
      <p:sp>
        <p:nvSpPr>
          <p:cNvPr id="65" name="Text 63"/>
          <p:cNvSpPr/>
          <p:nvPr/>
        </p:nvSpPr>
        <p:spPr>
          <a:xfrm>
            <a:off x="850392" y="4645152"/>
            <a:ext cx="1682496" cy="182880"/>
          </a:xfrm>
          <a:prstGeom prst="rect">
            <a:avLst/>
          </a:prstGeom>
          <a:noFill/>
        </p:spPr>
        <p:txBody>
          <a:bodyPr wrap="square" lIns="381" tIns="381" rIns="381" bIns="381" rtlCol="0" anchor="ctr">
            <a:normAutofit/>
          </a:bodyPr>
          <a:lstStyle/>
          <a:p>
            <a:pPr marL="0" indent="0" algn="l">
              <a:buNone/>
            </a:pPr>
            <a:r>
              <a:rPr lang="en-US" sz="1400" b="1" dirty="0">
                <a:solidFill>
                  <a:srgbClr val="111827"/>
                </a:solidFill>
                <a:latin typeface="Arial" panose="020B0604020202020204" pitchFamily="34" charset="0"/>
                <a:ea typeface="Arial" panose="020B0604020202020204" pitchFamily="34" charset="-122"/>
                <a:cs typeface="Arial" panose="020B0604020202020204" pitchFamily="34" charset="-120"/>
              </a:rPr>
              <a:t>Repeats</a:t>
            </a:r>
            <a:endParaRPr lang="en-US" sz="1400" dirty="0"/>
          </a:p>
        </p:txBody>
      </p:sp>
      <p:sp>
        <p:nvSpPr>
          <p:cNvPr id="66" name="Shape 64"/>
          <p:cNvSpPr/>
          <p:nvPr/>
        </p:nvSpPr>
        <p:spPr>
          <a:xfrm>
            <a:off x="3017520" y="4507992"/>
            <a:ext cx="1828800" cy="530352"/>
          </a:xfrm>
          <a:prstGeom prst="rect">
            <a:avLst/>
          </a:prstGeom>
          <a:solidFill>
            <a:srgbClr val="FFFFFF"/>
          </a:solidFill>
          <a:ln w="12700">
            <a:solidFill>
              <a:srgbClr val="CBD5E1"/>
            </a:solidFill>
            <a:prstDash val="solid"/>
          </a:ln>
        </p:spPr>
      </p:sp>
      <p:sp>
        <p:nvSpPr>
          <p:cNvPr id="67" name="Text 65"/>
          <p:cNvSpPr/>
          <p:nvPr/>
        </p:nvSpPr>
        <p:spPr>
          <a:xfrm>
            <a:off x="3090672" y="4645152"/>
            <a:ext cx="1682496" cy="182880"/>
          </a:xfrm>
          <a:prstGeom prst="rect">
            <a:avLst/>
          </a:prstGeom>
          <a:noFill/>
        </p:spPr>
        <p:txBody>
          <a:bodyPr wrap="square" lIns="381" tIns="381" rIns="381" bIns="381" rtlCol="0" anchor="ctr">
            <a:normAutofit/>
          </a:bodyPr>
          <a:lstStyle/>
          <a:p>
            <a:pPr marL="0" indent="0" algn="ctr">
              <a:buNone/>
            </a:pPr>
            <a:r>
              <a:rPr lang="en-US" sz="1400" dirty="0">
                <a:solidFill>
                  <a:srgbClr val="475569"/>
                </a:solidFill>
                <a:latin typeface="Arial" panose="020B0604020202020204" pitchFamily="34" charset="0"/>
                <a:ea typeface="Arial" panose="020B0604020202020204" pitchFamily="34" charset="-122"/>
                <a:cs typeface="Arial" panose="020B0604020202020204" pitchFamily="34" charset="-120"/>
              </a:rPr>
              <a:t>2</a:t>
            </a:r>
            <a:endParaRPr lang="en-US" sz="1400" dirty="0"/>
          </a:p>
        </p:txBody>
      </p:sp>
      <p:sp>
        <p:nvSpPr>
          <p:cNvPr id="68" name="Shape 66"/>
          <p:cNvSpPr/>
          <p:nvPr/>
        </p:nvSpPr>
        <p:spPr>
          <a:xfrm>
            <a:off x="5486400" y="4507992"/>
            <a:ext cx="1828800" cy="530352"/>
          </a:xfrm>
          <a:prstGeom prst="rect">
            <a:avLst/>
          </a:prstGeom>
          <a:solidFill>
            <a:srgbClr val="FFFFFF"/>
          </a:solidFill>
          <a:ln w="12700">
            <a:solidFill>
              <a:srgbClr val="CBD5E1"/>
            </a:solidFill>
            <a:prstDash val="solid"/>
          </a:ln>
        </p:spPr>
      </p:sp>
      <p:sp>
        <p:nvSpPr>
          <p:cNvPr id="69" name="Text 67"/>
          <p:cNvSpPr/>
          <p:nvPr/>
        </p:nvSpPr>
        <p:spPr>
          <a:xfrm>
            <a:off x="5559552" y="4645152"/>
            <a:ext cx="1682496" cy="182880"/>
          </a:xfrm>
          <a:prstGeom prst="rect">
            <a:avLst/>
          </a:prstGeom>
          <a:noFill/>
        </p:spPr>
        <p:txBody>
          <a:bodyPr wrap="square" lIns="381" tIns="381" rIns="381" bIns="381" rtlCol="0" anchor="ctr">
            <a:normAutofit/>
          </a:bodyPr>
          <a:lstStyle/>
          <a:p>
            <a:pPr marL="0" indent="0" algn="ctr">
              <a:buNone/>
            </a:pPr>
            <a:r>
              <a:rPr lang="en-US" sz="1400" dirty="0">
                <a:solidFill>
                  <a:srgbClr val="475569"/>
                </a:solidFill>
                <a:latin typeface="Arial" panose="020B0604020202020204" pitchFamily="34" charset="0"/>
                <a:ea typeface="Arial" panose="020B0604020202020204" pitchFamily="34" charset="-122"/>
                <a:cs typeface="Arial" panose="020B0604020202020204" pitchFamily="34" charset="-120"/>
              </a:rPr>
              <a:t>2</a:t>
            </a:r>
            <a:endParaRPr lang="en-US" sz="1400" dirty="0"/>
          </a:p>
        </p:txBody>
      </p:sp>
      <p:sp>
        <p:nvSpPr>
          <p:cNvPr id="70" name="Shape 68"/>
          <p:cNvSpPr/>
          <p:nvPr/>
        </p:nvSpPr>
        <p:spPr>
          <a:xfrm>
            <a:off x="7863840" y="4507992"/>
            <a:ext cx="1828800" cy="530352"/>
          </a:xfrm>
          <a:prstGeom prst="rect">
            <a:avLst/>
          </a:prstGeom>
          <a:solidFill>
            <a:srgbClr val="FFFFFF"/>
          </a:solidFill>
          <a:ln w="12700">
            <a:solidFill>
              <a:srgbClr val="CBD5E1"/>
            </a:solidFill>
            <a:prstDash val="solid"/>
          </a:ln>
        </p:spPr>
      </p:sp>
      <p:sp>
        <p:nvSpPr>
          <p:cNvPr id="71" name="Text 69"/>
          <p:cNvSpPr/>
          <p:nvPr/>
        </p:nvSpPr>
        <p:spPr>
          <a:xfrm>
            <a:off x="7936992" y="4645152"/>
            <a:ext cx="1682496" cy="182880"/>
          </a:xfrm>
          <a:prstGeom prst="rect">
            <a:avLst/>
          </a:prstGeom>
          <a:noFill/>
        </p:spPr>
        <p:txBody>
          <a:bodyPr wrap="square" lIns="381" tIns="381" rIns="381" bIns="381" rtlCol="0" anchor="ctr">
            <a:normAutofit/>
          </a:bodyPr>
          <a:lstStyle/>
          <a:p>
            <a:pPr marL="0" indent="0" algn="ctr">
              <a:buNone/>
            </a:pPr>
            <a:r>
              <a:rPr lang="en-US" sz="1400" dirty="0">
                <a:solidFill>
                  <a:srgbClr val="475569"/>
                </a:solidFill>
                <a:latin typeface="Arial" panose="020B0604020202020204" pitchFamily="34" charset="0"/>
                <a:ea typeface="Arial" panose="020B0604020202020204" pitchFamily="34" charset="-122"/>
                <a:cs typeface="Arial" panose="020B0604020202020204" pitchFamily="34" charset="-120"/>
              </a:rPr>
              <a:t>2</a:t>
            </a:r>
            <a:endParaRPr lang="en-US" sz="1400" dirty="0"/>
          </a:p>
        </p:txBody>
      </p:sp>
      <p:sp>
        <p:nvSpPr>
          <p:cNvPr id="72" name="Shape 70"/>
          <p:cNvSpPr/>
          <p:nvPr/>
        </p:nvSpPr>
        <p:spPr>
          <a:xfrm>
            <a:off x="10058400" y="4507992"/>
            <a:ext cx="1828800" cy="530352"/>
          </a:xfrm>
          <a:prstGeom prst="rect">
            <a:avLst/>
          </a:prstGeom>
          <a:solidFill>
            <a:srgbClr val="FFFFFF"/>
          </a:solidFill>
          <a:ln w="12700">
            <a:solidFill>
              <a:srgbClr val="CBD5E1"/>
            </a:solidFill>
            <a:prstDash val="solid"/>
          </a:ln>
        </p:spPr>
      </p:sp>
      <p:sp>
        <p:nvSpPr>
          <p:cNvPr id="73" name="Text 71"/>
          <p:cNvSpPr/>
          <p:nvPr/>
        </p:nvSpPr>
        <p:spPr>
          <a:xfrm>
            <a:off x="10131552" y="4645152"/>
            <a:ext cx="1682496" cy="182880"/>
          </a:xfrm>
          <a:prstGeom prst="rect">
            <a:avLst/>
          </a:prstGeom>
          <a:noFill/>
        </p:spPr>
        <p:txBody>
          <a:bodyPr wrap="square" lIns="381" tIns="381" rIns="381" bIns="381" rtlCol="0" anchor="ctr">
            <a:normAutofit/>
          </a:bodyPr>
          <a:lstStyle/>
          <a:p>
            <a:pPr marL="0" indent="0" algn="ctr">
              <a:buNone/>
            </a:pPr>
            <a:r>
              <a:rPr lang="en-US" sz="1400" dirty="0">
                <a:solidFill>
                  <a:srgbClr val="475569"/>
                </a:solidFill>
                <a:latin typeface="Arial" panose="020B0604020202020204" pitchFamily="34" charset="0"/>
                <a:ea typeface="Arial" panose="020B0604020202020204" pitchFamily="34" charset="-122"/>
                <a:cs typeface="Arial" panose="020B0604020202020204" pitchFamily="34" charset="-120"/>
              </a:rPr>
              <a:t>variation</a:t>
            </a:r>
            <a:endParaRPr lang="en-US" sz="1400" dirty="0"/>
          </a:p>
        </p:txBody>
      </p:sp>
      <p:sp>
        <p:nvSpPr>
          <p:cNvPr id="74" name="Shape 72"/>
          <p:cNvSpPr/>
          <p:nvPr/>
        </p:nvSpPr>
        <p:spPr>
          <a:xfrm>
            <a:off x="914400" y="5486400"/>
            <a:ext cx="10287000" cy="502920"/>
          </a:xfrm>
          <a:prstGeom prst="roundRect">
            <a:avLst>
              <a:gd name="adj" fmla="val 10909"/>
            </a:avLst>
          </a:prstGeom>
          <a:solidFill>
            <a:srgbClr val="EFF6FF"/>
          </a:solidFill>
          <a:ln w="12700">
            <a:solidFill>
              <a:srgbClr val="BFDBFE"/>
            </a:solidFill>
            <a:prstDash val="solid"/>
          </a:ln>
        </p:spPr>
      </p:sp>
      <p:sp>
        <p:nvSpPr>
          <p:cNvPr id="75" name="Text 73"/>
          <p:cNvSpPr/>
          <p:nvPr/>
        </p:nvSpPr>
        <p:spPr>
          <a:xfrm>
            <a:off x="1143000" y="5632704"/>
            <a:ext cx="9829800" cy="182880"/>
          </a:xfrm>
          <a:prstGeom prst="rect">
            <a:avLst/>
          </a:prstGeom>
          <a:noFill/>
        </p:spPr>
        <p:txBody>
          <a:bodyPr wrap="square" lIns="381" tIns="381" rIns="381" bIns="381" rtlCol="0" anchor="ctr">
            <a:normAutofit/>
          </a:bodyPr>
          <a:lstStyle/>
          <a:p>
            <a:pPr marL="0" indent="0" algn="ctr">
              <a:buNone/>
            </a:pPr>
            <a:r>
              <a:rPr lang="en-US" sz="1600" b="1" dirty="0">
                <a:solidFill>
                  <a:srgbClr val="1E3A8A"/>
                </a:solidFill>
                <a:latin typeface="Arial" panose="020B0604020202020204" pitchFamily="34" charset="0"/>
                <a:ea typeface="Arial" panose="020B0604020202020204" pitchFamily="34" charset="-122"/>
                <a:cs typeface="Arial" panose="020B0604020202020204" pitchFamily="34" charset="-120"/>
              </a:rPr>
              <a:t>Initial materialization is measured separately from the five later iterations.</a:t>
            </a:r>
            <a:endParaRPr lang="en-US" sz="1600" dirty="0"/>
          </a:p>
        </p:txBody>
      </p:sp>
      <p:sp>
        <p:nvSpPr>
          <p:cNvPr id="76" name="Slide Number Placeholder 0"/>
          <p:cNvSpPr>
            <a:spLocks noGrp="1"/>
          </p:cNvSpPr>
          <p:nvPr>
            <p:ph type="sldNum" sz="quarter" idx="4294967295"/>
          </p:nvPr>
        </p:nvSpPr>
        <p:spPr>
          <a:xfrm>
            <a:off x="11795760" y="6473952"/>
            <a:ext cx="800000" cy="300000"/>
          </a:xfrm>
          <a:prstGeom prst="rect">
            <a:avLst/>
          </a:prstGeom>
        </p:spPr>
        <p:txBody>
          <a:bodyPr/>
          <a:lstStyle>
            <a:lvl1pPr>
              <a:defRPr sz="800">
                <a:solidFill>
                  <a:srgbClr val="64748B"/>
                </a:solidFill>
                <a:latin typeface="Arial" panose="020B0604020202020204"/>
                <a:ea typeface="Arial" panose="020B0604020202020204"/>
                <a:cs typeface="Arial" panose="020B0604020202020204"/>
              </a:defRPr>
            </a:lvl1pPr>
          </a:lstStyle>
          <a:p>
            <a:pPr algn="l"/>
            <a:fld id="{F7021451-1387-4CA6-816F-3879F97B5CBC}" type="slidenum">
              <a:rPr lang="en-US" b="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411480"/>
            <a:ext cx="2743200" cy="201168"/>
          </a:xfrm>
          <a:prstGeom prst="rect">
            <a:avLst/>
          </a:prstGeom>
          <a:noFill/>
        </p:spPr>
        <p:txBody>
          <a:bodyPr wrap="square" lIns="0" tIns="0" rIns="0" bIns="0" rtlCol="0" anchor="ctr"/>
          <a:lstStyle/>
          <a:p>
            <a:pPr marL="0" indent="0">
              <a:buNone/>
            </a:pPr>
            <a:r>
              <a:rPr lang="en-US" sz="900" b="1" kern="0" spc="120" dirty="0">
                <a:solidFill>
                  <a:srgbClr val="2563EB"/>
                </a:solidFill>
                <a:latin typeface="Arial" panose="020B0604020202020204" pitchFamily="34" charset="0"/>
                <a:ea typeface="Arial" panose="020B0604020202020204" pitchFamily="34" charset="-122"/>
                <a:cs typeface="Arial" panose="020B0604020202020204" pitchFamily="34" charset="-120"/>
              </a:rPr>
              <a:t>RESULT</a:t>
            </a:r>
            <a:endParaRPr lang="en-US" sz="900" dirty="0"/>
          </a:p>
        </p:txBody>
      </p:sp>
      <p:sp>
        <p:nvSpPr>
          <p:cNvPr id="3" name="Text 1"/>
          <p:cNvSpPr/>
          <p:nvPr/>
        </p:nvSpPr>
        <p:spPr>
          <a:xfrm>
            <a:off x="566928" y="658368"/>
            <a:ext cx="10789920" cy="438912"/>
          </a:xfrm>
          <a:prstGeom prst="rect">
            <a:avLst/>
          </a:prstGeom>
          <a:noFill/>
        </p:spPr>
        <p:txBody>
          <a:bodyPr wrap="square" lIns="0" tIns="0" rIns="0" bIns="0" rtlCol="0" anchor="ctr">
            <a:normAutofit/>
          </a:bodyPr>
          <a:lstStyle/>
          <a:p>
            <a:pPr marL="0" indent="0">
              <a:buNone/>
            </a:pPr>
            <a:r>
              <a:rPr lang="en-US" sz="2600" b="1" dirty="0">
                <a:solidFill>
                  <a:srgbClr val="111827"/>
                </a:solidFill>
                <a:latin typeface="Arial" panose="020B0604020202020204" pitchFamily="34" charset="0"/>
                <a:ea typeface="Arial" panose="020B0604020202020204" pitchFamily="34" charset="-122"/>
                <a:cs typeface="Arial" panose="020B0604020202020204" pitchFamily="34" charset="-120"/>
              </a:rPr>
              <a:t>Caching helps later iterations most on the largest input</a:t>
            </a:r>
            <a:endParaRPr lang="en-US" sz="2600" dirty="0"/>
          </a:p>
        </p:txBody>
      </p:sp>
      <p:pic>
        <p:nvPicPr>
          <p:cNvPr id="4" name="Image 0" descr="C:\Users\xinyuesong\Desktop\CISC3010 presentation\project8-spark\results\cache_speedup.png"/>
          <p:cNvPicPr>
            <a:picLocks noChangeAspect="1"/>
          </p:cNvPicPr>
          <p:nvPr/>
        </p:nvPicPr>
        <p:blipFill>
          <a:blip r:embed="rId1"/>
          <a:stretch>
            <a:fillRect/>
          </a:stretch>
        </p:blipFill>
        <p:spPr>
          <a:xfrm>
            <a:off x="731520" y="1234440"/>
            <a:ext cx="6492240" cy="3657600"/>
          </a:xfrm>
          <a:prstGeom prst="rect">
            <a:avLst/>
          </a:prstGeom>
        </p:spPr>
      </p:pic>
      <p:sp>
        <p:nvSpPr>
          <p:cNvPr id="5" name="Shape 2"/>
          <p:cNvSpPr/>
          <p:nvPr/>
        </p:nvSpPr>
        <p:spPr>
          <a:xfrm>
            <a:off x="7726680" y="1417320"/>
            <a:ext cx="3566160" cy="3063240"/>
          </a:xfrm>
          <a:prstGeom prst="roundRect">
            <a:avLst>
              <a:gd name="adj" fmla="val 1791"/>
            </a:avLst>
          </a:prstGeom>
          <a:solidFill>
            <a:srgbClr val="DBEAFE"/>
          </a:solidFill>
          <a:ln w="12700">
            <a:solidFill>
              <a:srgbClr val="BFDBFE"/>
            </a:solidFill>
            <a:prstDash val="solid"/>
          </a:ln>
        </p:spPr>
      </p:sp>
      <p:sp>
        <p:nvSpPr>
          <p:cNvPr id="6" name="Text 3"/>
          <p:cNvSpPr/>
          <p:nvPr/>
        </p:nvSpPr>
        <p:spPr>
          <a:xfrm>
            <a:off x="8092440" y="1755648"/>
            <a:ext cx="2743200" cy="274320"/>
          </a:xfrm>
          <a:prstGeom prst="rect">
            <a:avLst/>
          </a:prstGeom>
          <a:noFill/>
        </p:spPr>
        <p:txBody>
          <a:bodyPr wrap="square" lIns="381" tIns="381" rIns="381" bIns="381" rtlCol="0" anchor="ctr">
            <a:normAutofit/>
          </a:bodyPr>
          <a:lstStyle/>
          <a:p>
            <a:pPr marL="0" indent="0" algn="l">
              <a:buNone/>
            </a:pPr>
            <a:r>
              <a:rPr lang="en-US" sz="1800" b="1" dirty="0">
                <a:solidFill>
                  <a:srgbClr val="2563EB"/>
                </a:solidFill>
                <a:latin typeface="Arial" panose="020B0604020202020204" pitchFamily="34" charset="0"/>
                <a:ea typeface="Arial" panose="020B0604020202020204" pitchFamily="34" charset="-122"/>
                <a:cs typeface="Arial" panose="020B0604020202020204" pitchFamily="34" charset="-120"/>
              </a:rPr>
              <a:t>Subsequent iterations</a:t>
            </a:r>
            <a:endParaRPr lang="en-US" sz="1800" dirty="0"/>
          </a:p>
        </p:txBody>
      </p:sp>
      <p:sp>
        <p:nvSpPr>
          <p:cNvPr id="7" name="Text 4"/>
          <p:cNvSpPr/>
          <p:nvPr/>
        </p:nvSpPr>
        <p:spPr>
          <a:xfrm>
            <a:off x="8092440" y="2240280"/>
            <a:ext cx="2286000" cy="1737360"/>
          </a:xfrm>
          <a:prstGeom prst="rect">
            <a:avLst/>
          </a:prstGeom>
          <a:noFill/>
        </p:spPr>
        <p:txBody>
          <a:bodyPr wrap="square" lIns="381" tIns="381" rIns="381" bIns="381" rtlCol="0" anchor="ctr">
            <a:normAutofit/>
          </a:bodyPr>
          <a:lstStyle/>
          <a:p>
            <a:pPr marL="0" indent="0" algn="l">
              <a:buNone/>
            </a:pPr>
            <a:r>
              <a:rPr lang="en-US" sz="1700" b="1" dirty="0">
                <a:solidFill>
                  <a:srgbClr val="111827"/>
                </a:solidFill>
                <a:latin typeface="Arial" panose="020B0604020202020204" pitchFamily="34" charset="0"/>
                <a:ea typeface="Arial" panose="020B0604020202020204" pitchFamily="34" charset="-122"/>
                <a:cs typeface="Arial" panose="020B0604020202020204" pitchFamily="34" charset="-120"/>
              </a:rPr>
              <a:t>2,000 edges</a:t>
            </a:r>
            <a:endParaRPr lang="en-US" sz="1700" dirty="0"/>
          </a:p>
          <a:p>
            <a:pPr marL="0" indent="0" algn="l">
              <a:buNone/>
            </a:pPr>
            <a:r>
              <a:rPr lang="en-US" sz="1700" b="1" dirty="0">
                <a:solidFill>
                  <a:srgbClr val="111827"/>
                </a:solidFill>
                <a:latin typeface="Arial" panose="020B0604020202020204" pitchFamily="34" charset="0"/>
                <a:ea typeface="Arial" panose="020B0604020202020204" pitchFamily="34" charset="-122"/>
                <a:cs typeface="Arial" panose="020B0604020202020204" pitchFamily="34" charset="-120"/>
              </a:rPr>
              <a:t>0.984x</a:t>
            </a:r>
            <a:endParaRPr lang="en-US" sz="1700" dirty="0"/>
          </a:p>
          <a:p>
            <a:pPr marL="0" indent="0" algn="l">
              <a:buNone/>
            </a:pPr>
            <a:endParaRPr lang="en-US" sz="1700" dirty="0"/>
          </a:p>
          <a:p>
            <a:pPr marL="0" indent="0" algn="l">
              <a:buNone/>
            </a:pPr>
            <a:r>
              <a:rPr lang="en-US" sz="1700" b="1" dirty="0">
                <a:solidFill>
                  <a:srgbClr val="111827"/>
                </a:solidFill>
                <a:latin typeface="Arial" panose="020B0604020202020204" pitchFamily="34" charset="0"/>
                <a:ea typeface="Arial" panose="020B0604020202020204" pitchFamily="34" charset="-122"/>
                <a:cs typeface="Arial" panose="020B0604020202020204" pitchFamily="34" charset="-120"/>
              </a:rPr>
              <a:t>10,000 edges</a:t>
            </a:r>
            <a:endParaRPr lang="en-US" sz="1700" dirty="0"/>
          </a:p>
          <a:p>
            <a:pPr marL="0" indent="0" algn="l">
              <a:buNone/>
            </a:pPr>
            <a:r>
              <a:rPr lang="en-US" sz="1700" b="1" dirty="0">
                <a:solidFill>
                  <a:srgbClr val="111827"/>
                </a:solidFill>
                <a:latin typeface="Arial" panose="020B0604020202020204" pitchFamily="34" charset="0"/>
                <a:ea typeface="Arial" panose="020B0604020202020204" pitchFamily="34" charset="-122"/>
                <a:cs typeface="Arial" panose="020B0604020202020204" pitchFamily="34" charset="-120"/>
              </a:rPr>
              <a:t>1.005x</a:t>
            </a:r>
            <a:endParaRPr lang="en-US" sz="1700" dirty="0"/>
          </a:p>
          <a:p>
            <a:pPr marL="0" indent="0" algn="l">
              <a:buNone/>
            </a:pPr>
            <a:endParaRPr lang="en-US" sz="1700" dirty="0"/>
          </a:p>
          <a:p>
            <a:pPr marL="0" indent="0" algn="l">
              <a:buNone/>
            </a:pPr>
            <a:r>
              <a:rPr lang="en-US" sz="1700" b="1" dirty="0">
                <a:solidFill>
                  <a:srgbClr val="111827"/>
                </a:solidFill>
                <a:latin typeface="Arial" panose="020B0604020202020204" pitchFamily="34" charset="0"/>
                <a:ea typeface="Arial" panose="020B0604020202020204" pitchFamily="34" charset="-122"/>
                <a:cs typeface="Arial" panose="020B0604020202020204" pitchFamily="34" charset="-120"/>
              </a:rPr>
              <a:t>30,000 edges</a:t>
            </a:r>
            <a:endParaRPr lang="en-US" sz="1700" dirty="0"/>
          </a:p>
          <a:p>
            <a:pPr marL="0" indent="0" algn="l">
              <a:buNone/>
            </a:pPr>
            <a:r>
              <a:rPr lang="en-US" sz="1700" b="1" dirty="0">
                <a:solidFill>
                  <a:srgbClr val="111827"/>
                </a:solidFill>
                <a:latin typeface="Arial" panose="020B0604020202020204" pitchFamily="34" charset="0"/>
                <a:ea typeface="Arial" panose="020B0604020202020204" pitchFamily="34" charset="-122"/>
                <a:cs typeface="Arial" panose="020B0604020202020204" pitchFamily="34" charset="-120"/>
              </a:rPr>
              <a:t>1.056x</a:t>
            </a:r>
            <a:endParaRPr lang="en-US" sz="1700" dirty="0"/>
          </a:p>
        </p:txBody>
      </p:sp>
      <p:sp>
        <p:nvSpPr>
          <p:cNvPr id="8" name="Text 5"/>
          <p:cNvSpPr/>
          <p:nvPr/>
        </p:nvSpPr>
        <p:spPr>
          <a:xfrm>
            <a:off x="749808" y="5303520"/>
            <a:ext cx="10058400" cy="365760"/>
          </a:xfrm>
          <a:prstGeom prst="rect">
            <a:avLst/>
          </a:prstGeom>
          <a:noFill/>
        </p:spPr>
        <p:txBody>
          <a:bodyPr wrap="square" lIns="381" tIns="381" rIns="381" bIns="381" rtlCol="0" anchor="ctr">
            <a:normAutofit/>
          </a:bodyPr>
          <a:lstStyle/>
          <a:p>
            <a:pPr marL="0" indent="0" algn="ctr">
              <a:buNone/>
            </a:pPr>
            <a:r>
              <a:rPr lang="en-US" sz="1800" b="1" dirty="0">
                <a:solidFill>
                  <a:srgbClr val="1E3A8A"/>
                </a:solidFill>
                <a:latin typeface="Arial" panose="020B0604020202020204" pitchFamily="34" charset="0"/>
                <a:ea typeface="Arial" panose="020B0604020202020204" pitchFamily="34" charset="-122"/>
                <a:cs typeface="Arial" panose="020B0604020202020204" pitchFamily="34" charset="-120"/>
              </a:rPr>
              <a:t>Cached time is lower when the repeated work is large enough to repay persistence.</a:t>
            </a:r>
            <a:endParaRPr lang="en-US" sz="1800" dirty="0"/>
          </a:p>
        </p:txBody>
      </p:sp>
      <p:sp>
        <p:nvSpPr>
          <p:cNvPr id="25" name="Slide Number Placeholder 0"/>
          <p:cNvSpPr>
            <a:spLocks noGrp="1"/>
          </p:cNvSpPr>
          <p:nvPr>
            <p:ph type="sldNum" sz="quarter" idx="4294967295"/>
          </p:nvPr>
        </p:nvSpPr>
        <p:spPr>
          <a:xfrm>
            <a:off x="11795760" y="6473952"/>
            <a:ext cx="800000" cy="300000"/>
          </a:xfrm>
          <a:prstGeom prst="rect">
            <a:avLst/>
          </a:prstGeom>
        </p:spPr>
        <p:txBody>
          <a:bodyPr/>
          <a:lstStyle>
            <a:lvl1pPr>
              <a:defRPr sz="800">
                <a:solidFill>
                  <a:srgbClr val="64748B"/>
                </a:solidFill>
                <a:latin typeface="Arial" panose="020B0604020202020204"/>
                <a:ea typeface="Arial" panose="020B0604020202020204"/>
                <a:cs typeface="Arial" panose="020B0604020202020204"/>
              </a:defRPr>
            </a:lvl1pPr>
          </a:lstStyle>
          <a:p>
            <a:pPr algn="l"/>
            <a:fld id="{F7021451-1387-4CA6-816F-3879F97B5CBC}" type="slidenum">
              <a:rPr lang="en-US" b="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411480"/>
            <a:ext cx="2743200" cy="201168"/>
          </a:xfrm>
          <a:prstGeom prst="rect">
            <a:avLst/>
          </a:prstGeom>
          <a:noFill/>
        </p:spPr>
        <p:txBody>
          <a:bodyPr wrap="square" lIns="0" tIns="0" rIns="0" bIns="0" rtlCol="0" anchor="ctr"/>
          <a:lstStyle/>
          <a:p>
            <a:pPr marL="0" indent="0">
              <a:buNone/>
            </a:pPr>
            <a:r>
              <a:rPr lang="en-US" sz="900" b="1" kern="0" spc="120" dirty="0">
                <a:solidFill>
                  <a:srgbClr val="2563EB"/>
                </a:solidFill>
                <a:latin typeface="Arial" panose="020B0604020202020204" pitchFamily="34" charset="0"/>
                <a:ea typeface="Arial" panose="020B0604020202020204" pitchFamily="34" charset="-122"/>
                <a:cs typeface="Arial" panose="020B0604020202020204" pitchFamily="34" charset="-120"/>
              </a:rPr>
              <a:t>RESULT</a:t>
            </a:r>
            <a:endParaRPr lang="en-US" sz="900" dirty="0"/>
          </a:p>
        </p:txBody>
      </p:sp>
      <p:sp>
        <p:nvSpPr>
          <p:cNvPr id="3" name="Text 1"/>
          <p:cNvSpPr/>
          <p:nvPr/>
        </p:nvSpPr>
        <p:spPr>
          <a:xfrm>
            <a:off x="566928" y="658368"/>
            <a:ext cx="10789920" cy="438912"/>
          </a:xfrm>
          <a:prstGeom prst="rect">
            <a:avLst/>
          </a:prstGeom>
          <a:noFill/>
        </p:spPr>
        <p:txBody>
          <a:bodyPr wrap="square" lIns="0" tIns="0" rIns="0" bIns="0" rtlCol="0" anchor="ctr">
            <a:normAutofit/>
          </a:bodyPr>
          <a:lstStyle/>
          <a:p>
            <a:pPr marL="0" indent="0">
              <a:buNone/>
            </a:pPr>
            <a:r>
              <a:rPr lang="en-US" sz="2600" b="1" dirty="0">
                <a:solidFill>
                  <a:srgbClr val="111827"/>
                </a:solidFill>
                <a:latin typeface="Arial" panose="020B0604020202020204" pitchFamily="34" charset="0"/>
                <a:ea typeface="Arial" panose="020B0604020202020204" pitchFamily="34" charset="-122"/>
                <a:cs typeface="Arial" panose="020B0604020202020204" pitchFamily="34" charset="-120"/>
              </a:rPr>
              <a:t>Materialization cost explains the small-data slowdown</a:t>
            </a:r>
            <a:endParaRPr lang="en-US" sz="2600" dirty="0"/>
          </a:p>
        </p:txBody>
      </p:sp>
      <p:pic>
        <p:nvPicPr>
          <p:cNvPr id="4" name="Image 0" descr="C:\Users\xinyuesong\Desktop\CISC3010 presentation\project8-spark\results\iteration_timing.png"/>
          <p:cNvPicPr>
            <a:picLocks noChangeAspect="1"/>
          </p:cNvPicPr>
          <p:nvPr/>
        </p:nvPicPr>
        <p:blipFill>
          <a:blip r:embed="rId1"/>
          <a:stretch>
            <a:fillRect/>
          </a:stretch>
        </p:blipFill>
        <p:spPr>
          <a:xfrm>
            <a:off x="640080" y="1143000"/>
            <a:ext cx="6675120" cy="3840480"/>
          </a:xfrm>
          <a:prstGeom prst="rect">
            <a:avLst/>
          </a:prstGeom>
        </p:spPr>
      </p:pic>
      <p:sp>
        <p:nvSpPr>
          <p:cNvPr id="5" name="Shape 2"/>
          <p:cNvSpPr/>
          <p:nvPr/>
        </p:nvSpPr>
        <p:spPr>
          <a:xfrm>
            <a:off x="7818120" y="1545336"/>
            <a:ext cx="256032" cy="256032"/>
          </a:xfrm>
          <a:prstGeom prst="ellipse">
            <a:avLst/>
          </a:prstGeom>
          <a:solidFill>
            <a:srgbClr val="D97706"/>
          </a:solidFill>
          <a:ln w="12700">
            <a:solidFill>
              <a:srgbClr val="D97706"/>
            </a:solidFill>
            <a:prstDash val="solid"/>
          </a:ln>
        </p:spPr>
      </p:sp>
      <p:sp>
        <p:nvSpPr>
          <p:cNvPr id="6" name="Text 3"/>
          <p:cNvSpPr/>
          <p:nvPr/>
        </p:nvSpPr>
        <p:spPr>
          <a:xfrm>
            <a:off x="8275320" y="1508760"/>
            <a:ext cx="2468880" cy="256032"/>
          </a:xfrm>
          <a:prstGeom prst="rect">
            <a:avLst/>
          </a:prstGeom>
          <a:noFill/>
        </p:spPr>
        <p:txBody>
          <a:bodyPr wrap="square" lIns="381" tIns="381" rIns="381" bIns="381" rtlCol="0" anchor="ctr">
            <a:normAutofit/>
          </a:bodyPr>
          <a:lstStyle/>
          <a:p>
            <a:pPr marL="0" indent="0" algn="l">
              <a:buNone/>
            </a:pPr>
            <a:r>
              <a:rPr lang="en-US" sz="1800" b="1" dirty="0">
                <a:solidFill>
                  <a:srgbClr val="D97706"/>
                </a:solidFill>
                <a:latin typeface="Arial" panose="020B0604020202020204" pitchFamily="34" charset="0"/>
                <a:ea typeface="Arial" panose="020B0604020202020204" pitchFamily="34" charset="-122"/>
                <a:cs typeface="Arial" panose="020B0604020202020204" pitchFamily="34" charset="-120"/>
              </a:rPr>
              <a:t>Small</a:t>
            </a:r>
            <a:endParaRPr lang="en-US" sz="1800" dirty="0"/>
          </a:p>
        </p:txBody>
      </p:sp>
      <p:sp>
        <p:nvSpPr>
          <p:cNvPr id="7" name="Text 4"/>
          <p:cNvSpPr/>
          <p:nvPr/>
        </p:nvSpPr>
        <p:spPr>
          <a:xfrm>
            <a:off x="8275320" y="1828800"/>
            <a:ext cx="2834640" cy="530352"/>
          </a:xfrm>
          <a:prstGeom prst="rect">
            <a:avLst/>
          </a:prstGeom>
          <a:noFill/>
        </p:spPr>
        <p:txBody>
          <a:bodyPr wrap="square" lIns="381" tIns="381" rIns="381" bIns="381" rtlCol="0" anchor="ctr">
            <a:normAutofit/>
          </a:bodyPr>
          <a:lstStyle/>
          <a:p>
            <a:pPr marL="0" indent="0" algn="l">
              <a:buNone/>
            </a:pPr>
            <a:r>
              <a:rPr lang="en-US" sz="1400" dirty="0">
                <a:solidFill>
                  <a:srgbClr val="475569"/>
                </a:solidFill>
                <a:latin typeface="Arial" panose="020B0604020202020204" pitchFamily="34" charset="0"/>
                <a:ea typeface="Arial" panose="020B0604020202020204" pitchFamily="34" charset="-122"/>
                <a:cs typeface="Arial" panose="020B0604020202020204" pitchFamily="34" charset="-120"/>
              </a:rPr>
              <a:t>Cached total runtime is higher because the first materialization dominates.</a:t>
            </a:r>
            <a:endParaRPr lang="en-US" sz="1400" dirty="0"/>
          </a:p>
        </p:txBody>
      </p:sp>
      <p:sp>
        <p:nvSpPr>
          <p:cNvPr id="8" name="Shape 5"/>
          <p:cNvSpPr/>
          <p:nvPr/>
        </p:nvSpPr>
        <p:spPr>
          <a:xfrm>
            <a:off x="7818120" y="2688336"/>
            <a:ext cx="256032" cy="256032"/>
          </a:xfrm>
          <a:prstGeom prst="ellipse">
            <a:avLst/>
          </a:prstGeom>
          <a:solidFill>
            <a:srgbClr val="475569"/>
          </a:solidFill>
          <a:ln w="12700">
            <a:solidFill>
              <a:srgbClr val="475569"/>
            </a:solidFill>
            <a:prstDash val="solid"/>
          </a:ln>
        </p:spPr>
      </p:sp>
      <p:sp>
        <p:nvSpPr>
          <p:cNvPr id="9" name="Text 6"/>
          <p:cNvSpPr/>
          <p:nvPr/>
        </p:nvSpPr>
        <p:spPr>
          <a:xfrm>
            <a:off x="8275320" y="2651760"/>
            <a:ext cx="2468880" cy="256032"/>
          </a:xfrm>
          <a:prstGeom prst="rect">
            <a:avLst/>
          </a:prstGeom>
          <a:noFill/>
        </p:spPr>
        <p:txBody>
          <a:bodyPr wrap="square" lIns="381" tIns="381" rIns="381" bIns="381" rtlCol="0" anchor="ctr">
            <a:normAutofit/>
          </a:bodyPr>
          <a:lstStyle/>
          <a:p>
            <a:pPr marL="0" indent="0" algn="l">
              <a:buNone/>
            </a:pPr>
            <a:r>
              <a:rPr lang="en-US" sz="1800" b="1" dirty="0">
                <a:solidFill>
                  <a:srgbClr val="475569"/>
                </a:solidFill>
                <a:latin typeface="Arial" panose="020B0604020202020204" pitchFamily="34" charset="0"/>
                <a:ea typeface="Arial" panose="020B0604020202020204" pitchFamily="34" charset="-122"/>
                <a:cs typeface="Arial" panose="020B0604020202020204" pitchFamily="34" charset="-120"/>
              </a:rPr>
              <a:t>Medium</a:t>
            </a:r>
            <a:endParaRPr lang="en-US" sz="1800" dirty="0"/>
          </a:p>
        </p:txBody>
      </p:sp>
      <p:sp>
        <p:nvSpPr>
          <p:cNvPr id="10" name="Text 7"/>
          <p:cNvSpPr/>
          <p:nvPr/>
        </p:nvSpPr>
        <p:spPr>
          <a:xfrm>
            <a:off x="8275320" y="2971800"/>
            <a:ext cx="2834640" cy="530352"/>
          </a:xfrm>
          <a:prstGeom prst="rect">
            <a:avLst/>
          </a:prstGeom>
          <a:noFill/>
        </p:spPr>
        <p:txBody>
          <a:bodyPr wrap="square" lIns="381" tIns="381" rIns="381" bIns="381" rtlCol="0" anchor="ctr">
            <a:normAutofit/>
          </a:bodyPr>
          <a:lstStyle/>
          <a:p>
            <a:pPr marL="0" indent="0" algn="l">
              <a:buNone/>
            </a:pPr>
            <a:r>
              <a:rPr lang="en-US" sz="1400" dirty="0">
                <a:solidFill>
                  <a:srgbClr val="475569"/>
                </a:solidFill>
                <a:latin typeface="Arial" panose="020B0604020202020204" pitchFamily="34" charset="0"/>
                <a:ea typeface="Arial" panose="020B0604020202020204" pitchFamily="34" charset="-122"/>
                <a:cs typeface="Arial" panose="020B0604020202020204" pitchFamily="34" charset="-120"/>
              </a:rPr>
              <a:t>Later iteration times are almost identical.</a:t>
            </a:r>
            <a:endParaRPr lang="en-US" sz="1400" dirty="0"/>
          </a:p>
        </p:txBody>
      </p:sp>
      <p:sp>
        <p:nvSpPr>
          <p:cNvPr id="11" name="Shape 8"/>
          <p:cNvSpPr/>
          <p:nvPr/>
        </p:nvSpPr>
        <p:spPr>
          <a:xfrm>
            <a:off x="7818120" y="3831336"/>
            <a:ext cx="256032" cy="256032"/>
          </a:xfrm>
          <a:prstGeom prst="ellipse">
            <a:avLst/>
          </a:prstGeom>
          <a:solidFill>
            <a:srgbClr val="16A34A"/>
          </a:solidFill>
          <a:ln w="12700">
            <a:solidFill>
              <a:srgbClr val="16A34A"/>
            </a:solidFill>
            <a:prstDash val="solid"/>
          </a:ln>
        </p:spPr>
      </p:sp>
      <p:sp>
        <p:nvSpPr>
          <p:cNvPr id="12" name="Text 9"/>
          <p:cNvSpPr/>
          <p:nvPr/>
        </p:nvSpPr>
        <p:spPr>
          <a:xfrm>
            <a:off x="8275320" y="3794760"/>
            <a:ext cx="2468880" cy="256032"/>
          </a:xfrm>
          <a:prstGeom prst="rect">
            <a:avLst/>
          </a:prstGeom>
          <a:noFill/>
        </p:spPr>
        <p:txBody>
          <a:bodyPr wrap="square" lIns="381" tIns="381" rIns="381" bIns="381" rtlCol="0" anchor="ctr">
            <a:normAutofit/>
          </a:bodyPr>
          <a:lstStyle/>
          <a:p>
            <a:pPr marL="0" indent="0" algn="l">
              <a:buNone/>
            </a:pPr>
            <a:r>
              <a:rPr lang="en-US" sz="1800" b="1" dirty="0">
                <a:solidFill>
                  <a:srgbClr val="16A34A"/>
                </a:solidFill>
                <a:latin typeface="Arial" panose="020B0604020202020204" pitchFamily="34" charset="0"/>
                <a:ea typeface="Arial" panose="020B0604020202020204" pitchFamily="34" charset="-122"/>
                <a:cs typeface="Arial" panose="020B0604020202020204" pitchFamily="34" charset="-120"/>
              </a:rPr>
              <a:t>Large</a:t>
            </a:r>
            <a:endParaRPr lang="en-US" sz="1800" dirty="0"/>
          </a:p>
        </p:txBody>
      </p:sp>
      <p:sp>
        <p:nvSpPr>
          <p:cNvPr id="13" name="Text 10"/>
          <p:cNvSpPr/>
          <p:nvPr/>
        </p:nvSpPr>
        <p:spPr>
          <a:xfrm>
            <a:off x="8275320" y="4114800"/>
            <a:ext cx="2834640" cy="530352"/>
          </a:xfrm>
          <a:prstGeom prst="rect">
            <a:avLst/>
          </a:prstGeom>
          <a:noFill/>
        </p:spPr>
        <p:txBody>
          <a:bodyPr wrap="square" lIns="381" tIns="381" rIns="381" bIns="381" rtlCol="0" anchor="ctr">
            <a:normAutofit/>
          </a:bodyPr>
          <a:lstStyle/>
          <a:p>
            <a:pPr marL="0" indent="0" algn="l">
              <a:buNone/>
            </a:pPr>
            <a:r>
              <a:rPr lang="en-US" sz="1400" dirty="0">
                <a:solidFill>
                  <a:srgbClr val="475569"/>
                </a:solidFill>
                <a:latin typeface="Arial" panose="020B0604020202020204" pitchFamily="34" charset="0"/>
                <a:ea typeface="Arial" panose="020B0604020202020204" pitchFamily="34" charset="-122"/>
                <a:cs typeface="Arial" panose="020B0604020202020204" pitchFamily="34" charset="-120"/>
              </a:rPr>
              <a:t>Cached later iterations are faster and total time is slightly lower.</a:t>
            </a:r>
            <a:endParaRPr lang="en-US" sz="1400" dirty="0"/>
          </a:p>
        </p:txBody>
      </p:sp>
      <p:sp>
        <p:nvSpPr>
          <p:cNvPr id="14" name="Text 11"/>
          <p:cNvSpPr/>
          <p:nvPr/>
        </p:nvSpPr>
        <p:spPr>
          <a:xfrm>
            <a:off x="914400" y="5486400"/>
            <a:ext cx="10149840" cy="320040"/>
          </a:xfrm>
          <a:prstGeom prst="rect">
            <a:avLst/>
          </a:prstGeom>
          <a:noFill/>
        </p:spPr>
        <p:txBody>
          <a:bodyPr wrap="square" lIns="381" tIns="381" rIns="381" bIns="381" rtlCol="0" anchor="ctr">
            <a:normAutofit/>
          </a:bodyPr>
          <a:lstStyle/>
          <a:p>
            <a:pPr marL="0" indent="0" algn="ctr">
              <a:buNone/>
            </a:pPr>
            <a:r>
              <a:rPr lang="en-US" sz="1700" b="1" dirty="0">
                <a:solidFill>
                  <a:srgbClr val="111827"/>
                </a:solidFill>
                <a:latin typeface="Arial" panose="020B0604020202020204" pitchFamily="34" charset="0"/>
                <a:ea typeface="Arial" panose="020B0604020202020204" pitchFamily="34" charset="-122"/>
                <a:cs typeface="Arial" panose="020B0604020202020204" pitchFamily="34" charset="-120"/>
              </a:rPr>
              <a:t>A slowdown is a valid distributed-systems result when the mechanism cost is visible and explained.</a:t>
            </a:r>
            <a:endParaRPr lang="en-US" sz="1700" dirty="0"/>
          </a:p>
        </p:txBody>
      </p:sp>
      <p:sp>
        <p:nvSpPr>
          <p:cNvPr id="25" name="Slide Number Placeholder 0"/>
          <p:cNvSpPr>
            <a:spLocks noGrp="1"/>
          </p:cNvSpPr>
          <p:nvPr>
            <p:ph type="sldNum" sz="quarter" idx="4294967295"/>
          </p:nvPr>
        </p:nvSpPr>
        <p:spPr>
          <a:xfrm>
            <a:off x="11795760" y="6473952"/>
            <a:ext cx="800000" cy="300000"/>
          </a:xfrm>
          <a:prstGeom prst="rect">
            <a:avLst/>
          </a:prstGeom>
        </p:spPr>
        <p:txBody>
          <a:bodyPr/>
          <a:lstStyle>
            <a:lvl1pPr>
              <a:defRPr sz="800">
                <a:solidFill>
                  <a:srgbClr val="64748B"/>
                </a:solidFill>
                <a:latin typeface="Arial" panose="020B0604020202020204"/>
                <a:ea typeface="Arial" panose="020B0604020202020204"/>
                <a:cs typeface="Arial" panose="020B0604020202020204"/>
              </a:defRPr>
            </a:lvl1pPr>
          </a:lstStyle>
          <a:p>
            <a:pPr algn="l"/>
            <a:fld id="{F7021451-1387-4CA6-816F-3879F97B5CBC}" type="slidenum">
              <a:rPr lang="en-US" b="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411480"/>
            <a:ext cx="2743200" cy="201168"/>
          </a:xfrm>
          <a:prstGeom prst="rect">
            <a:avLst/>
          </a:prstGeom>
          <a:noFill/>
        </p:spPr>
        <p:txBody>
          <a:bodyPr wrap="square" lIns="0" tIns="0" rIns="0" bIns="0" rtlCol="0" anchor="ctr"/>
          <a:lstStyle/>
          <a:p>
            <a:pPr marL="0" indent="0">
              <a:buNone/>
            </a:pPr>
            <a:r>
              <a:rPr lang="en-US" sz="900" b="1" kern="0" spc="120" dirty="0">
                <a:solidFill>
                  <a:srgbClr val="2563EB"/>
                </a:solidFill>
                <a:latin typeface="Arial" panose="020B0604020202020204" pitchFamily="34" charset="0"/>
                <a:ea typeface="Arial" panose="020B0604020202020204" pitchFamily="34" charset="-122"/>
                <a:cs typeface="Arial" panose="020B0604020202020204" pitchFamily="34" charset="-120"/>
              </a:rPr>
              <a:t>EVIDENCE</a:t>
            </a:r>
            <a:endParaRPr lang="en-US" sz="900" dirty="0"/>
          </a:p>
        </p:txBody>
      </p:sp>
      <p:sp>
        <p:nvSpPr>
          <p:cNvPr id="3" name="Text 1"/>
          <p:cNvSpPr/>
          <p:nvPr/>
        </p:nvSpPr>
        <p:spPr>
          <a:xfrm>
            <a:off x="566928" y="658368"/>
            <a:ext cx="10789920" cy="438912"/>
          </a:xfrm>
          <a:prstGeom prst="rect">
            <a:avLst/>
          </a:prstGeom>
          <a:noFill/>
        </p:spPr>
        <p:txBody>
          <a:bodyPr wrap="square" lIns="0" tIns="0" rIns="0" bIns="0" rtlCol="0" anchor="ctr">
            <a:normAutofit/>
          </a:bodyPr>
          <a:lstStyle/>
          <a:p>
            <a:pPr marL="0" indent="0">
              <a:buNone/>
            </a:pPr>
            <a:r>
              <a:rPr lang="en-US" sz="2600" b="1" dirty="0">
                <a:solidFill>
                  <a:srgbClr val="111827"/>
                </a:solidFill>
                <a:latin typeface="Arial" panose="020B0604020202020204" pitchFamily="34" charset="0"/>
                <a:ea typeface="Arial" panose="020B0604020202020204" pitchFamily="34" charset="-122"/>
                <a:cs typeface="Arial" panose="020B0604020202020204" pitchFamily="34" charset="-120"/>
              </a:rPr>
              <a:t>Correctness and observability are part of the result</a:t>
            </a:r>
            <a:endParaRPr lang="en-US" sz="2600" dirty="0"/>
          </a:p>
        </p:txBody>
      </p:sp>
      <p:sp>
        <p:nvSpPr>
          <p:cNvPr id="4" name="Shape 2"/>
          <p:cNvSpPr/>
          <p:nvPr/>
        </p:nvSpPr>
        <p:spPr>
          <a:xfrm>
            <a:off x="777240" y="1417320"/>
            <a:ext cx="3246120" cy="2971800"/>
          </a:xfrm>
          <a:prstGeom prst="roundRect">
            <a:avLst>
              <a:gd name="adj" fmla="val 1846"/>
            </a:avLst>
          </a:prstGeom>
          <a:solidFill>
            <a:srgbClr val="DCFCE7"/>
          </a:solidFill>
          <a:ln w="13970">
            <a:solidFill>
              <a:srgbClr val="16A34A"/>
            </a:solidFill>
            <a:prstDash val="solid"/>
          </a:ln>
        </p:spPr>
      </p:sp>
      <p:sp>
        <p:nvSpPr>
          <p:cNvPr id="5" name="Text 3"/>
          <p:cNvSpPr/>
          <p:nvPr/>
        </p:nvSpPr>
        <p:spPr>
          <a:xfrm>
            <a:off x="1033272" y="1783080"/>
            <a:ext cx="2697480" cy="320040"/>
          </a:xfrm>
          <a:prstGeom prst="rect">
            <a:avLst/>
          </a:prstGeom>
          <a:noFill/>
        </p:spPr>
        <p:txBody>
          <a:bodyPr wrap="square" lIns="381" tIns="381" rIns="381" bIns="381" rtlCol="0" anchor="ctr">
            <a:normAutofit/>
          </a:bodyPr>
          <a:lstStyle/>
          <a:p>
            <a:pPr marL="0" indent="0" algn="ctr">
              <a:buNone/>
            </a:pPr>
            <a:r>
              <a:rPr lang="en-US" sz="2000" b="1" dirty="0">
                <a:solidFill>
                  <a:srgbClr val="16A34A"/>
                </a:solidFill>
                <a:latin typeface="Arial" panose="020B0604020202020204" pitchFamily="34" charset="0"/>
                <a:ea typeface="Arial" panose="020B0604020202020204" pitchFamily="34" charset="-122"/>
                <a:cs typeface="Arial" panose="020B0604020202020204" pitchFamily="34" charset="-120"/>
              </a:rPr>
              <a:t>Correctness</a:t>
            </a:r>
            <a:endParaRPr lang="en-US" sz="2000" dirty="0"/>
          </a:p>
        </p:txBody>
      </p:sp>
      <p:sp>
        <p:nvSpPr>
          <p:cNvPr id="6" name="Text 4"/>
          <p:cNvSpPr/>
          <p:nvPr/>
        </p:nvSpPr>
        <p:spPr>
          <a:xfrm>
            <a:off x="1069848" y="2423160"/>
            <a:ext cx="2651760" cy="1143000"/>
          </a:xfrm>
          <a:prstGeom prst="rect">
            <a:avLst/>
          </a:prstGeom>
          <a:noFill/>
        </p:spPr>
        <p:txBody>
          <a:bodyPr wrap="square" lIns="381" tIns="381" rIns="381" bIns="381" rtlCol="0" anchor="ctr">
            <a:normAutofit/>
          </a:bodyPr>
          <a:lstStyle/>
          <a:p>
            <a:pPr marL="0" indent="0" algn="ctr">
              <a:buNone/>
            </a:pPr>
            <a:r>
              <a:rPr lang="en-US" sz="1700" dirty="0">
                <a:solidFill>
                  <a:srgbClr val="111827"/>
                </a:solidFill>
                <a:latin typeface="Arial" panose="020B0604020202020204" pitchFamily="34" charset="0"/>
                <a:ea typeface="Arial" panose="020B0604020202020204" pitchFamily="34" charset="-122"/>
                <a:cs typeface="Arial" panose="020B0604020202020204" pitchFamily="34" charset="-120"/>
              </a:rPr>
              <a:t>Sequential reference</a:t>
            </a:r>
            <a:endParaRPr lang="en-US" sz="1700" dirty="0"/>
          </a:p>
          <a:p>
            <a:pPr marL="0" indent="0" algn="ctr">
              <a:buNone/>
            </a:pPr>
            <a:r>
              <a:rPr lang="en-US" sz="1700" dirty="0">
                <a:solidFill>
                  <a:srgbClr val="111827"/>
                </a:solidFill>
                <a:latin typeface="Arial" panose="020B0604020202020204" pitchFamily="34" charset="0"/>
                <a:ea typeface="Arial" panose="020B0604020202020204" pitchFamily="34" charset="-122"/>
                <a:cs typeface="Arial" panose="020B0604020202020204" pitchFamily="34" charset="-120"/>
              </a:rPr>
              <a:t>max error: 4.99e-13</a:t>
            </a:r>
            <a:endParaRPr lang="en-US" sz="1700" dirty="0"/>
          </a:p>
          <a:p>
            <a:pPr marL="0" indent="0" algn="ctr">
              <a:buNone/>
            </a:pPr>
            <a:r>
              <a:rPr lang="en-US" sz="1700" dirty="0">
                <a:solidFill>
                  <a:srgbClr val="111827"/>
                </a:solidFill>
                <a:latin typeface="Arial" panose="020B0604020202020204" pitchFamily="34" charset="0"/>
                <a:ea typeface="Arial" panose="020B0604020202020204" pitchFamily="34" charset="-122"/>
                <a:cs typeface="Arial" panose="020B0604020202020204" pitchFamily="34" charset="-120"/>
              </a:rPr>
              <a:t>checksum: 1.0</a:t>
            </a:r>
            <a:endParaRPr lang="en-US" sz="1700" dirty="0"/>
          </a:p>
        </p:txBody>
      </p:sp>
      <p:sp>
        <p:nvSpPr>
          <p:cNvPr id="7" name="Shape 5"/>
          <p:cNvSpPr/>
          <p:nvPr/>
        </p:nvSpPr>
        <p:spPr>
          <a:xfrm>
            <a:off x="4572000" y="1417320"/>
            <a:ext cx="3246120" cy="2971800"/>
          </a:xfrm>
          <a:prstGeom prst="roundRect">
            <a:avLst>
              <a:gd name="adj" fmla="val 1846"/>
            </a:avLst>
          </a:prstGeom>
          <a:solidFill>
            <a:srgbClr val="DBEAFE"/>
          </a:solidFill>
          <a:ln w="13970">
            <a:solidFill>
              <a:srgbClr val="2563EB"/>
            </a:solidFill>
            <a:prstDash val="solid"/>
          </a:ln>
        </p:spPr>
      </p:sp>
      <p:sp>
        <p:nvSpPr>
          <p:cNvPr id="8" name="Text 6"/>
          <p:cNvSpPr/>
          <p:nvPr/>
        </p:nvSpPr>
        <p:spPr>
          <a:xfrm>
            <a:off x="4828032" y="1783080"/>
            <a:ext cx="2697480" cy="320040"/>
          </a:xfrm>
          <a:prstGeom prst="rect">
            <a:avLst/>
          </a:prstGeom>
          <a:noFill/>
        </p:spPr>
        <p:txBody>
          <a:bodyPr wrap="square" lIns="381" tIns="381" rIns="381" bIns="381" rtlCol="0" anchor="ctr">
            <a:normAutofit/>
          </a:bodyPr>
          <a:lstStyle/>
          <a:p>
            <a:pPr marL="0" indent="0" algn="ctr">
              <a:buNone/>
            </a:pPr>
            <a:r>
              <a:rPr lang="en-US" sz="2000" b="1" dirty="0">
                <a:solidFill>
                  <a:srgbClr val="2563EB"/>
                </a:solidFill>
                <a:latin typeface="Arial" panose="020B0604020202020204" pitchFamily="34" charset="0"/>
                <a:ea typeface="Arial" panose="020B0604020202020204" pitchFamily="34" charset="-122"/>
                <a:cs typeface="Arial" panose="020B0604020202020204" pitchFamily="34" charset="-120"/>
              </a:rPr>
              <a:t>Runtime evidence</a:t>
            </a:r>
            <a:endParaRPr lang="en-US" sz="2000" dirty="0"/>
          </a:p>
        </p:txBody>
      </p:sp>
      <p:sp>
        <p:nvSpPr>
          <p:cNvPr id="9" name="Text 7"/>
          <p:cNvSpPr/>
          <p:nvPr/>
        </p:nvSpPr>
        <p:spPr>
          <a:xfrm>
            <a:off x="4864608" y="2423160"/>
            <a:ext cx="2651760" cy="1143000"/>
          </a:xfrm>
          <a:prstGeom prst="rect">
            <a:avLst/>
          </a:prstGeom>
          <a:noFill/>
        </p:spPr>
        <p:txBody>
          <a:bodyPr wrap="square" lIns="381" tIns="381" rIns="381" bIns="381" rtlCol="0" anchor="ctr">
            <a:normAutofit/>
          </a:bodyPr>
          <a:lstStyle/>
          <a:p>
            <a:pPr marL="0" indent="0" algn="ctr">
              <a:buNone/>
            </a:pPr>
            <a:r>
              <a:rPr lang="en-US" sz="1700" dirty="0">
                <a:solidFill>
                  <a:srgbClr val="111827"/>
                </a:solidFill>
                <a:latin typeface="Arial" panose="020B0604020202020204" pitchFamily="34" charset="0"/>
                <a:ea typeface="Arial" panose="020B0604020202020204" pitchFamily="34" charset="-122"/>
                <a:cs typeface="Arial" panose="020B0604020202020204" pitchFamily="34" charset="-120"/>
              </a:rPr>
              <a:t>Per-iteration timings</a:t>
            </a:r>
            <a:endParaRPr lang="en-US" sz="1700" dirty="0"/>
          </a:p>
          <a:p>
            <a:pPr marL="0" indent="0" algn="ctr">
              <a:buNone/>
            </a:pPr>
            <a:r>
              <a:rPr lang="en-US" sz="1700" dirty="0">
                <a:solidFill>
                  <a:srgbClr val="111827"/>
                </a:solidFill>
                <a:latin typeface="Arial" panose="020B0604020202020204" pitchFamily="34" charset="0"/>
                <a:ea typeface="Arial" panose="020B0604020202020204" pitchFamily="34" charset="-122"/>
                <a:cs typeface="Arial" panose="020B0604020202020204" pitchFamily="34" charset="-120"/>
              </a:rPr>
              <a:t>materialization separated</a:t>
            </a:r>
            <a:endParaRPr lang="en-US" sz="1700" dirty="0"/>
          </a:p>
          <a:p>
            <a:pPr marL="0" indent="0" algn="ctr">
              <a:buNone/>
            </a:pPr>
            <a:r>
              <a:rPr lang="en-US" sz="1700" dirty="0">
                <a:solidFill>
                  <a:srgbClr val="111827"/>
                </a:solidFill>
                <a:latin typeface="Arial" panose="020B0604020202020204" pitchFamily="34" charset="0"/>
                <a:ea typeface="Arial" panose="020B0604020202020204" pitchFamily="34" charset="-122"/>
                <a:cs typeface="Arial" panose="020B0604020202020204" pitchFamily="34" charset="-120"/>
              </a:rPr>
              <a:t>mean +/- standard deviation</a:t>
            </a:r>
            <a:endParaRPr lang="en-US" sz="1700" dirty="0"/>
          </a:p>
        </p:txBody>
      </p:sp>
      <p:sp>
        <p:nvSpPr>
          <p:cNvPr id="10" name="Shape 8"/>
          <p:cNvSpPr/>
          <p:nvPr/>
        </p:nvSpPr>
        <p:spPr>
          <a:xfrm>
            <a:off x="8366760" y="1417320"/>
            <a:ext cx="3246120" cy="2971800"/>
          </a:xfrm>
          <a:prstGeom prst="roundRect">
            <a:avLst>
              <a:gd name="adj" fmla="val 1846"/>
            </a:avLst>
          </a:prstGeom>
          <a:solidFill>
            <a:srgbClr val="FEF3C7"/>
          </a:solidFill>
          <a:ln w="13970">
            <a:solidFill>
              <a:srgbClr val="D97706"/>
            </a:solidFill>
            <a:prstDash val="solid"/>
          </a:ln>
        </p:spPr>
      </p:sp>
      <p:sp>
        <p:nvSpPr>
          <p:cNvPr id="11" name="Text 9"/>
          <p:cNvSpPr/>
          <p:nvPr/>
        </p:nvSpPr>
        <p:spPr>
          <a:xfrm>
            <a:off x="8622792" y="1783080"/>
            <a:ext cx="2697480" cy="320040"/>
          </a:xfrm>
          <a:prstGeom prst="rect">
            <a:avLst/>
          </a:prstGeom>
          <a:noFill/>
        </p:spPr>
        <p:txBody>
          <a:bodyPr wrap="square" lIns="381" tIns="381" rIns="381" bIns="381" rtlCol="0" anchor="ctr">
            <a:normAutofit/>
          </a:bodyPr>
          <a:lstStyle/>
          <a:p>
            <a:pPr marL="0" indent="0" algn="ctr">
              <a:buNone/>
            </a:pPr>
            <a:r>
              <a:rPr lang="en-US" sz="2000" b="1" dirty="0">
                <a:solidFill>
                  <a:srgbClr val="D97706"/>
                </a:solidFill>
                <a:latin typeface="Arial" panose="020B0604020202020204" pitchFamily="34" charset="0"/>
                <a:ea typeface="Arial" panose="020B0604020202020204" pitchFamily="34" charset="-122"/>
                <a:cs typeface="Arial" panose="020B0604020202020204" pitchFamily="34" charset="-120"/>
              </a:rPr>
              <a:t>Distributed evidence</a:t>
            </a:r>
            <a:endParaRPr lang="en-US" sz="2000" dirty="0"/>
          </a:p>
        </p:txBody>
      </p:sp>
      <p:sp>
        <p:nvSpPr>
          <p:cNvPr id="12" name="Text 10"/>
          <p:cNvSpPr/>
          <p:nvPr/>
        </p:nvSpPr>
        <p:spPr>
          <a:xfrm>
            <a:off x="8659368" y="2423160"/>
            <a:ext cx="2651760" cy="1143000"/>
          </a:xfrm>
          <a:prstGeom prst="rect">
            <a:avLst/>
          </a:prstGeom>
          <a:noFill/>
        </p:spPr>
        <p:txBody>
          <a:bodyPr wrap="square" lIns="381" tIns="381" rIns="381" bIns="381" rtlCol="0" anchor="ctr">
            <a:normAutofit/>
          </a:bodyPr>
          <a:lstStyle/>
          <a:p>
            <a:pPr marL="0" indent="0" algn="ctr">
              <a:buNone/>
            </a:pPr>
            <a:r>
              <a:rPr lang="en-US" sz="1700" dirty="0">
                <a:solidFill>
                  <a:srgbClr val="111827"/>
                </a:solidFill>
                <a:latin typeface="Arial" panose="020B0604020202020204" pitchFamily="34" charset="0"/>
                <a:ea typeface="Arial" panose="020B0604020202020204" pitchFamily="34" charset="-122"/>
                <a:cs typeface="Arial" panose="020B0604020202020204" pitchFamily="34" charset="-120"/>
              </a:rPr>
              <a:t>Spark UI URL</a:t>
            </a:r>
            <a:endParaRPr lang="en-US" sz="1700" dirty="0"/>
          </a:p>
          <a:p>
            <a:pPr marL="0" indent="0" algn="ctr">
              <a:buNone/>
            </a:pPr>
            <a:r>
              <a:rPr lang="en-US" sz="1700" dirty="0">
                <a:solidFill>
                  <a:srgbClr val="111827"/>
                </a:solidFill>
                <a:latin typeface="Arial" panose="020B0604020202020204" pitchFamily="34" charset="0"/>
                <a:ea typeface="Arial" panose="020B0604020202020204" pitchFamily="34" charset="-122"/>
                <a:cs typeface="Arial" panose="020B0604020202020204" pitchFamily="34" charset="-120"/>
              </a:rPr>
              <a:t>partitions and stages</a:t>
            </a:r>
            <a:endParaRPr lang="en-US" sz="1700" dirty="0"/>
          </a:p>
          <a:p>
            <a:pPr marL="0" indent="0" algn="ctr">
              <a:buNone/>
            </a:pPr>
            <a:r>
              <a:rPr lang="en-US" sz="1700" dirty="0">
                <a:solidFill>
                  <a:srgbClr val="111827"/>
                </a:solidFill>
                <a:latin typeface="Arial" panose="020B0604020202020204" pitchFamily="34" charset="0"/>
                <a:ea typeface="Arial" panose="020B0604020202020204" pitchFamily="34" charset="-122"/>
                <a:cs typeface="Arial" panose="020B0604020202020204" pitchFamily="34" charset="-120"/>
              </a:rPr>
              <a:t>MEMORY_ONLY storage level</a:t>
            </a:r>
            <a:endParaRPr lang="en-US" sz="1700" dirty="0"/>
          </a:p>
        </p:txBody>
      </p:sp>
      <p:sp>
        <p:nvSpPr>
          <p:cNvPr id="13" name="Text 11"/>
          <p:cNvSpPr/>
          <p:nvPr/>
        </p:nvSpPr>
        <p:spPr>
          <a:xfrm>
            <a:off x="1005840" y="5166360"/>
            <a:ext cx="10149840" cy="365760"/>
          </a:xfrm>
          <a:prstGeom prst="rect">
            <a:avLst/>
          </a:prstGeom>
          <a:noFill/>
        </p:spPr>
        <p:txBody>
          <a:bodyPr wrap="square" lIns="381" tIns="381" rIns="381" bIns="381" rtlCol="0" anchor="ctr">
            <a:normAutofit/>
          </a:bodyPr>
          <a:lstStyle/>
          <a:p>
            <a:pPr marL="0" indent="0" algn="ctr">
              <a:buNone/>
            </a:pPr>
            <a:r>
              <a:rPr lang="en-US" sz="2200" b="1" dirty="0">
                <a:solidFill>
                  <a:srgbClr val="1E3A8A"/>
                </a:solidFill>
                <a:latin typeface="Arial" panose="020B0604020202020204" pitchFamily="34" charset="0"/>
                <a:ea typeface="Arial" panose="020B0604020202020204" pitchFamily="34" charset="-122"/>
                <a:cs typeface="Arial" panose="020B0604020202020204" pitchFamily="34" charset="-120"/>
              </a:rPr>
              <a:t>Every figure is traceable to raw JSON and raw_runs.csv.</a:t>
            </a:r>
            <a:endParaRPr lang="en-US" sz="2200" dirty="0"/>
          </a:p>
        </p:txBody>
      </p:sp>
      <p:sp>
        <p:nvSpPr>
          <p:cNvPr id="14" name="Text 12"/>
          <p:cNvSpPr/>
          <p:nvPr/>
        </p:nvSpPr>
        <p:spPr>
          <a:xfrm>
            <a:off x="1188720" y="5715000"/>
            <a:ext cx="9784080" cy="274320"/>
          </a:xfrm>
          <a:prstGeom prst="rect">
            <a:avLst/>
          </a:prstGeom>
          <a:noFill/>
        </p:spPr>
        <p:txBody>
          <a:bodyPr wrap="square" lIns="381" tIns="381" rIns="381" bIns="381" rtlCol="0" anchor="ctr">
            <a:normAutofit/>
          </a:bodyPr>
          <a:lstStyle/>
          <a:p>
            <a:pPr marL="0" indent="0" algn="ctr">
              <a:buNone/>
            </a:pPr>
            <a:r>
              <a:rPr lang="en-US" sz="1400" dirty="0">
                <a:solidFill>
                  <a:srgbClr val="475569"/>
                </a:solidFill>
                <a:latin typeface="Arial" panose="020B0604020202020204" pitchFamily="34" charset="0"/>
                <a:ea typeface="Arial" panose="020B0604020202020204" pitchFamily="34" charset="-122"/>
                <a:cs typeface="Arial" panose="020B0604020202020204" pitchFamily="34" charset="-120"/>
              </a:rPr>
              <a:t>The code also keeps the local-cluster setting explicit so the single-laptop limitation is not hidden.</a:t>
            </a:r>
            <a:endParaRPr lang="en-US" sz="1400" dirty="0"/>
          </a:p>
        </p:txBody>
      </p:sp>
      <p:sp>
        <p:nvSpPr>
          <p:cNvPr id="25" name="Slide Number Placeholder 0"/>
          <p:cNvSpPr>
            <a:spLocks noGrp="1"/>
          </p:cNvSpPr>
          <p:nvPr>
            <p:ph type="sldNum" sz="quarter" idx="4294967295"/>
          </p:nvPr>
        </p:nvSpPr>
        <p:spPr>
          <a:xfrm>
            <a:off x="11795760" y="6473952"/>
            <a:ext cx="800000" cy="300000"/>
          </a:xfrm>
          <a:prstGeom prst="rect">
            <a:avLst/>
          </a:prstGeom>
        </p:spPr>
        <p:txBody>
          <a:bodyPr/>
          <a:lstStyle>
            <a:lvl1pPr>
              <a:defRPr sz="800">
                <a:solidFill>
                  <a:srgbClr val="64748B"/>
                </a:solidFill>
                <a:latin typeface="Arial" panose="020B0604020202020204"/>
                <a:ea typeface="Arial" panose="020B0604020202020204"/>
                <a:cs typeface="Arial" panose="020B0604020202020204"/>
              </a:defRPr>
            </a:lvl1pPr>
          </a:lstStyle>
          <a:p>
            <a:pPr algn="l"/>
            <a:fld id="{F7021451-1387-4CA6-816F-3879F97B5CBC}" type="slidenum">
              <a:rPr lang="en-US" b="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411480"/>
            <a:ext cx="2743200" cy="201168"/>
          </a:xfrm>
          <a:prstGeom prst="rect">
            <a:avLst/>
          </a:prstGeom>
          <a:noFill/>
        </p:spPr>
        <p:txBody>
          <a:bodyPr wrap="square" lIns="0" tIns="0" rIns="0" bIns="0" rtlCol="0" anchor="ctr"/>
          <a:lstStyle/>
          <a:p>
            <a:pPr marL="0" indent="0">
              <a:buNone/>
            </a:pPr>
            <a:r>
              <a:rPr lang="en-US" sz="900" b="1" kern="0" spc="120" dirty="0">
                <a:solidFill>
                  <a:srgbClr val="2563EB"/>
                </a:solidFill>
                <a:latin typeface="Arial" panose="020B0604020202020204" pitchFamily="34" charset="0"/>
                <a:ea typeface="Arial" panose="020B0604020202020204" pitchFamily="34" charset="-122"/>
                <a:cs typeface="Arial" panose="020B0604020202020204" pitchFamily="34" charset="-120"/>
              </a:rPr>
              <a:t>READING</a:t>
            </a:r>
            <a:endParaRPr lang="en-US" sz="900" dirty="0"/>
          </a:p>
        </p:txBody>
      </p:sp>
      <p:sp>
        <p:nvSpPr>
          <p:cNvPr id="3" name="Text 1"/>
          <p:cNvSpPr/>
          <p:nvPr/>
        </p:nvSpPr>
        <p:spPr>
          <a:xfrm>
            <a:off x="566928" y="658368"/>
            <a:ext cx="10789920" cy="438912"/>
          </a:xfrm>
          <a:prstGeom prst="rect">
            <a:avLst/>
          </a:prstGeom>
          <a:noFill/>
        </p:spPr>
        <p:txBody>
          <a:bodyPr wrap="square" lIns="0" tIns="0" rIns="0" bIns="0" rtlCol="0" anchor="ctr">
            <a:normAutofit/>
          </a:bodyPr>
          <a:lstStyle/>
          <a:p>
            <a:pPr marL="0" indent="0">
              <a:buNone/>
            </a:pPr>
            <a:r>
              <a:rPr lang="en-US" sz="2600" b="1" dirty="0">
                <a:solidFill>
                  <a:srgbClr val="111827"/>
                </a:solidFill>
                <a:latin typeface="Arial" panose="020B0604020202020204" pitchFamily="34" charset="0"/>
                <a:ea typeface="Arial" panose="020B0604020202020204" pitchFamily="34" charset="-122"/>
                <a:cs typeface="Arial" panose="020B0604020202020204" pitchFamily="34" charset="-120"/>
              </a:rPr>
              <a:t>The result connects directly to RDD persistence and lineage</a:t>
            </a:r>
            <a:endParaRPr lang="en-US" sz="2600" dirty="0"/>
          </a:p>
        </p:txBody>
      </p:sp>
      <p:sp>
        <p:nvSpPr>
          <p:cNvPr id="4" name="Shape 2"/>
          <p:cNvSpPr/>
          <p:nvPr/>
        </p:nvSpPr>
        <p:spPr>
          <a:xfrm>
            <a:off x="777240" y="1417320"/>
            <a:ext cx="4892040" cy="3566160"/>
          </a:xfrm>
          <a:prstGeom prst="roundRect">
            <a:avLst>
              <a:gd name="adj" fmla="val 1538"/>
            </a:avLst>
          </a:prstGeom>
          <a:solidFill>
            <a:srgbClr val="DBEAFE"/>
          </a:solidFill>
          <a:ln w="12700">
            <a:solidFill>
              <a:srgbClr val="BFDBFE"/>
            </a:solidFill>
            <a:prstDash val="solid"/>
          </a:ln>
        </p:spPr>
      </p:sp>
      <p:sp>
        <p:nvSpPr>
          <p:cNvPr id="5" name="Text 3"/>
          <p:cNvSpPr/>
          <p:nvPr/>
        </p:nvSpPr>
        <p:spPr>
          <a:xfrm>
            <a:off x="1143000" y="1783080"/>
            <a:ext cx="2286000" cy="292608"/>
          </a:xfrm>
          <a:prstGeom prst="rect">
            <a:avLst/>
          </a:prstGeom>
          <a:noFill/>
        </p:spPr>
        <p:txBody>
          <a:bodyPr wrap="square" lIns="381" tIns="381" rIns="381" bIns="381" rtlCol="0" anchor="ctr">
            <a:normAutofit/>
          </a:bodyPr>
          <a:lstStyle/>
          <a:p>
            <a:pPr marL="0" indent="0" algn="l">
              <a:buNone/>
            </a:pPr>
            <a:r>
              <a:rPr lang="en-US" sz="2100" b="1" dirty="0">
                <a:solidFill>
                  <a:srgbClr val="2563EB"/>
                </a:solidFill>
                <a:latin typeface="Arial" panose="020B0604020202020204" pitchFamily="34" charset="0"/>
                <a:ea typeface="Arial" panose="020B0604020202020204" pitchFamily="34" charset="-122"/>
                <a:cs typeface="Arial" panose="020B0604020202020204" pitchFamily="34" charset="-120"/>
              </a:rPr>
              <a:t>From the paper</a:t>
            </a:r>
            <a:endParaRPr lang="en-US" sz="2100" dirty="0"/>
          </a:p>
        </p:txBody>
      </p:sp>
      <p:sp>
        <p:nvSpPr>
          <p:cNvPr id="6" name="Text 4"/>
          <p:cNvSpPr/>
          <p:nvPr/>
        </p:nvSpPr>
        <p:spPr>
          <a:xfrm>
            <a:off x="1143000" y="2331720"/>
            <a:ext cx="4069080" cy="1417320"/>
          </a:xfrm>
          <a:prstGeom prst="rect">
            <a:avLst/>
          </a:prstGeom>
          <a:noFill/>
        </p:spPr>
        <p:txBody>
          <a:bodyPr wrap="square" lIns="381" tIns="381" rIns="381" bIns="381" rtlCol="0" anchor="ctr">
            <a:normAutofit/>
          </a:bodyPr>
          <a:lstStyle/>
          <a:p>
            <a:pPr marL="0" indent="0" algn="l">
              <a:buNone/>
            </a:pPr>
            <a:r>
              <a:rPr lang="en-US" sz="1800" dirty="0">
                <a:solidFill>
                  <a:srgbClr val="111827"/>
                </a:solidFill>
                <a:latin typeface="Arial" panose="020B0604020202020204" pitchFamily="34" charset="0"/>
                <a:ea typeface="Arial" panose="020B0604020202020204" pitchFamily="34" charset="-122"/>
                <a:cs typeface="Arial" panose="020B0604020202020204" pitchFamily="34" charset="-120"/>
              </a:rPr>
              <a:t>RDDs expose a fault-tolerant abstraction for in-memory cluster computing. Persistence can reuse computed partitions. Lineage provides a path for recomputation when a partition is lost.</a:t>
            </a:r>
            <a:endParaRPr lang="en-US" sz="1800" dirty="0"/>
          </a:p>
        </p:txBody>
      </p:sp>
      <p:sp>
        <p:nvSpPr>
          <p:cNvPr id="7" name="Shape 5"/>
          <p:cNvSpPr/>
          <p:nvPr/>
        </p:nvSpPr>
        <p:spPr>
          <a:xfrm>
            <a:off x="6492240" y="1417320"/>
            <a:ext cx="4892040" cy="3566160"/>
          </a:xfrm>
          <a:prstGeom prst="roundRect">
            <a:avLst>
              <a:gd name="adj" fmla="val 1538"/>
            </a:avLst>
          </a:prstGeom>
          <a:solidFill>
            <a:srgbClr val="DCFCE7"/>
          </a:solidFill>
          <a:ln w="12700">
            <a:solidFill>
              <a:srgbClr val="BBF7D0"/>
            </a:solidFill>
            <a:prstDash val="solid"/>
          </a:ln>
        </p:spPr>
      </p:sp>
      <p:sp>
        <p:nvSpPr>
          <p:cNvPr id="8" name="Text 6"/>
          <p:cNvSpPr/>
          <p:nvPr/>
        </p:nvSpPr>
        <p:spPr>
          <a:xfrm>
            <a:off x="6858000" y="1783080"/>
            <a:ext cx="2468880" cy="292608"/>
          </a:xfrm>
          <a:prstGeom prst="rect">
            <a:avLst/>
          </a:prstGeom>
          <a:noFill/>
        </p:spPr>
        <p:txBody>
          <a:bodyPr wrap="square" lIns="381" tIns="381" rIns="381" bIns="381" rtlCol="0" anchor="ctr">
            <a:normAutofit/>
          </a:bodyPr>
          <a:lstStyle/>
          <a:p>
            <a:pPr marL="0" indent="0" algn="l">
              <a:buNone/>
            </a:pPr>
            <a:r>
              <a:rPr lang="en-US" sz="2100" b="1" dirty="0">
                <a:solidFill>
                  <a:srgbClr val="16A34A"/>
                </a:solidFill>
                <a:latin typeface="Arial" panose="020B0604020202020204" pitchFamily="34" charset="0"/>
                <a:ea typeface="Arial" panose="020B0604020202020204" pitchFamily="34" charset="-122"/>
                <a:cs typeface="Arial" panose="020B0604020202020204" pitchFamily="34" charset="-120"/>
              </a:rPr>
              <a:t>In this project</a:t>
            </a:r>
            <a:endParaRPr lang="en-US" sz="2100" dirty="0"/>
          </a:p>
        </p:txBody>
      </p:sp>
      <p:sp>
        <p:nvSpPr>
          <p:cNvPr id="9" name="Text 7"/>
          <p:cNvSpPr/>
          <p:nvPr/>
        </p:nvSpPr>
        <p:spPr>
          <a:xfrm>
            <a:off x="6858000" y="2331720"/>
            <a:ext cx="4069080" cy="1417320"/>
          </a:xfrm>
          <a:prstGeom prst="rect">
            <a:avLst/>
          </a:prstGeom>
          <a:noFill/>
        </p:spPr>
        <p:txBody>
          <a:bodyPr wrap="square" lIns="381" tIns="381" rIns="381" bIns="381" rtlCol="0" anchor="ctr">
            <a:normAutofit/>
          </a:bodyPr>
          <a:lstStyle/>
          <a:p>
            <a:pPr marL="0" indent="0" algn="l">
              <a:buNone/>
            </a:pPr>
            <a:r>
              <a:rPr lang="en-US" sz="1800" dirty="0">
                <a:solidFill>
                  <a:srgbClr val="111827"/>
                </a:solidFill>
                <a:latin typeface="Arial" panose="020B0604020202020204" pitchFamily="34" charset="0"/>
                <a:ea typeface="Arial" panose="020B0604020202020204" pitchFamily="34" charset="-122"/>
                <a:cs typeface="Arial" panose="020B0604020202020204" pitchFamily="34" charset="-120"/>
              </a:rPr>
              <a:t>links.persist(MEMORY_ONLY) stores the shared graph partitions. The local two-worker deployment measures reuse and makes the lineage-based recovery assumption explicit, without claiming multi-machine scale.</a:t>
            </a:r>
            <a:endParaRPr lang="en-US" sz="1800" dirty="0"/>
          </a:p>
        </p:txBody>
      </p:sp>
      <p:sp>
        <p:nvSpPr>
          <p:cNvPr id="10" name="Text 8"/>
          <p:cNvSpPr/>
          <p:nvPr/>
        </p:nvSpPr>
        <p:spPr>
          <a:xfrm>
            <a:off x="1005840" y="5532120"/>
            <a:ext cx="10149840" cy="320040"/>
          </a:xfrm>
          <a:prstGeom prst="rect">
            <a:avLst/>
          </a:prstGeom>
          <a:noFill/>
        </p:spPr>
        <p:txBody>
          <a:bodyPr wrap="square" lIns="381" tIns="381" rIns="381" bIns="381" rtlCol="0" anchor="ctr">
            <a:normAutofit/>
          </a:bodyPr>
          <a:lstStyle/>
          <a:p>
            <a:pPr marL="0" indent="0" algn="ctr">
              <a:buNone/>
            </a:pPr>
            <a:r>
              <a:rPr lang="en-US" sz="1500" dirty="0">
                <a:solidFill>
                  <a:srgbClr val="475569"/>
                </a:solidFill>
                <a:latin typeface="Arial" panose="020B0604020202020204" pitchFamily="34" charset="0"/>
                <a:ea typeface="Arial" panose="020B0604020202020204" pitchFamily="34" charset="-122"/>
                <a:cs typeface="Arial" panose="020B0604020202020204" pitchFamily="34" charset="-120"/>
              </a:rPr>
              <a:t>Reading: Zaharia et al., NSDI 2012 | Current API: Apache Spark RDD Programming Guide</a:t>
            </a:r>
            <a:endParaRPr lang="en-US" sz="1500" dirty="0"/>
          </a:p>
        </p:txBody>
      </p:sp>
      <p:sp>
        <p:nvSpPr>
          <p:cNvPr id="25" name="Slide Number Placeholder 0"/>
          <p:cNvSpPr>
            <a:spLocks noGrp="1"/>
          </p:cNvSpPr>
          <p:nvPr>
            <p:ph type="sldNum" sz="quarter" idx="4294967295"/>
          </p:nvPr>
        </p:nvSpPr>
        <p:spPr>
          <a:xfrm>
            <a:off x="11795760" y="6473952"/>
            <a:ext cx="800000" cy="300000"/>
          </a:xfrm>
          <a:prstGeom prst="rect">
            <a:avLst/>
          </a:prstGeom>
        </p:spPr>
        <p:txBody>
          <a:bodyPr/>
          <a:lstStyle>
            <a:lvl1pPr>
              <a:defRPr sz="800">
                <a:solidFill>
                  <a:srgbClr val="64748B"/>
                </a:solidFill>
                <a:latin typeface="Arial" panose="020B0604020202020204"/>
                <a:ea typeface="Arial" panose="020B0604020202020204"/>
                <a:cs typeface="Arial" panose="020B0604020202020204"/>
              </a:defRPr>
            </a:lvl1pPr>
          </a:lstStyle>
          <a:p>
            <a:pPr algn="l"/>
            <a:fld id="{F7021451-1387-4CA6-816F-3879F97B5CBC}" type="slidenum">
              <a:rPr lang="en-US" b="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411480"/>
            <a:ext cx="2743200" cy="201168"/>
          </a:xfrm>
          <a:prstGeom prst="rect">
            <a:avLst/>
          </a:prstGeom>
          <a:noFill/>
        </p:spPr>
        <p:txBody>
          <a:bodyPr wrap="square" lIns="0" tIns="0" rIns="0" bIns="0" rtlCol="0" anchor="ctr"/>
          <a:lstStyle/>
          <a:p>
            <a:pPr marL="0" indent="0">
              <a:buNone/>
            </a:pPr>
            <a:r>
              <a:rPr lang="en-US" sz="900" b="1" kern="0" spc="120" dirty="0">
                <a:solidFill>
                  <a:srgbClr val="2563EB"/>
                </a:solidFill>
                <a:latin typeface="Arial" panose="020B0604020202020204" pitchFamily="34" charset="0"/>
                <a:ea typeface="Arial" panose="020B0604020202020204" pitchFamily="34" charset="-122"/>
                <a:cs typeface="Arial" panose="020B0604020202020204" pitchFamily="34" charset="-120"/>
              </a:rPr>
              <a:t>CLOSE</a:t>
            </a:r>
            <a:endParaRPr lang="en-US" sz="900" dirty="0"/>
          </a:p>
        </p:txBody>
      </p:sp>
      <p:sp>
        <p:nvSpPr>
          <p:cNvPr id="3" name="Text 1"/>
          <p:cNvSpPr/>
          <p:nvPr/>
        </p:nvSpPr>
        <p:spPr>
          <a:xfrm>
            <a:off x="566928" y="658368"/>
            <a:ext cx="10789920" cy="438912"/>
          </a:xfrm>
          <a:prstGeom prst="rect">
            <a:avLst/>
          </a:prstGeom>
          <a:noFill/>
        </p:spPr>
        <p:txBody>
          <a:bodyPr wrap="square" lIns="0" tIns="0" rIns="0" bIns="0" rtlCol="0" anchor="ctr">
            <a:normAutofit/>
          </a:bodyPr>
          <a:lstStyle/>
          <a:p>
            <a:pPr marL="0" indent="0">
              <a:buNone/>
            </a:pPr>
            <a:r>
              <a:rPr lang="en-US" sz="2600" b="1" dirty="0">
                <a:solidFill>
                  <a:srgbClr val="111827"/>
                </a:solidFill>
                <a:latin typeface="Arial" panose="020B0604020202020204" pitchFamily="34" charset="0"/>
                <a:ea typeface="Arial" panose="020B0604020202020204" pitchFamily="34" charset="-122"/>
                <a:cs typeface="Arial" panose="020B0604020202020204" pitchFamily="34" charset="-120"/>
              </a:rPr>
              <a:t>The repository is ready for the demo and final submission</a:t>
            </a:r>
            <a:endParaRPr lang="en-US" sz="2600" dirty="0"/>
          </a:p>
        </p:txBody>
      </p:sp>
      <p:sp>
        <p:nvSpPr>
          <p:cNvPr id="4" name="Text 2"/>
          <p:cNvSpPr/>
          <p:nvPr/>
        </p:nvSpPr>
        <p:spPr>
          <a:xfrm>
            <a:off x="868680" y="1325880"/>
            <a:ext cx="2011680" cy="320040"/>
          </a:xfrm>
          <a:prstGeom prst="rect">
            <a:avLst/>
          </a:prstGeom>
          <a:noFill/>
        </p:spPr>
        <p:txBody>
          <a:bodyPr wrap="square" lIns="381" tIns="381" rIns="381" bIns="381" rtlCol="0" anchor="ctr">
            <a:normAutofit/>
          </a:bodyPr>
          <a:lstStyle/>
          <a:p>
            <a:pPr marL="0" indent="0" algn="l">
              <a:buNone/>
            </a:pPr>
            <a:r>
              <a:rPr lang="en-US" sz="2200" b="1" dirty="0">
                <a:solidFill>
                  <a:srgbClr val="2563EB"/>
                </a:solidFill>
                <a:latin typeface="Arial" panose="020B0604020202020204" pitchFamily="34" charset="0"/>
                <a:ea typeface="Arial" panose="020B0604020202020204" pitchFamily="34" charset="-122"/>
                <a:cs typeface="Arial" panose="020B0604020202020204" pitchFamily="34" charset="-120"/>
              </a:rPr>
              <a:t>Included</a:t>
            </a:r>
            <a:endParaRPr lang="en-US" sz="2200" dirty="0"/>
          </a:p>
        </p:txBody>
      </p:sp>
      <p:sp>
        <p:nvSpPr>
          <p:cNvPr id="5" name="Text 3"/>
          <p:cNvSpPr/>
          <p:nvPr/>
        </p:nvSpPr>
        <p:spPr>
          <a:xfrm>
            <a:off x="6400800" y="1325880"/>
            <a:ext cx="4023360" cy="320040"/>
          </a:xfrm>
          <a:prstGeom prst="rect">
            <a:avLst/>
          </a:prstGeom>
          <a:noFill/>
        </p:spPr>
        <p:txBody>
          <a:bodyPr wrap="square" lIns="381" tIns="381" rIns="381" bIns="381" rtlCol="0" anchor="ctr">
            <a:normAutofit/>
          </a:bodyPr>
          <a:lstStyle/>
          <a:p>
            <a:pPr marL="0" indent="0" algn="l">
              <a:buNone/>
            </a:pPr>
            <a:r>
              <a:rPr lang="en-US" sz="2200" b="1" dirty="0">
                <a:solidFill>
                  <a:srgbClr val="D97706"/>
                </a:solidFill>
                <a:latin typeface="Arial" panose="020B0604020202020204" pitchFamily="34" charset="0"/>
                <a:ea typeface="Arial" panose="020B0604020202020204" pitchFamily="34" charset="-122"/>
                <a:cs typeface="Arial" panose="020B0604020202020204" pitchFamily="34" charset="-120"/>
              </a:rPr>
              <a:t>Still required after presenting</a:t>
            </a:r>
            <a:endParaRPr lang="en-US" sz="2200" dirty="0"/>
          </a:p>
        </p:txBody>
      </p:sp>
      <p:sp>
        <p:nvSpPr>
          <p:cNvPr id="6" name="Shape 4"/>
          <p:cNvSpPr/>
          <p:nvPr/>
        </p:nvSpPr>
        <p:spPr>
          <a:xfrm>
            <a:off x="914400" y="1947672"/>
            <a:ext cx="201168" cy="201168"/>
          </a:xfrm>
          <a:prstGeom prst="ellipse">
            <a:avLst/>
          </a:prstGeom>
          <a:solidFill>
            <a:srgbClr val="16A34A"/>
          </a:solidFill>
          <a:ln w="12700">
            <a:solidFill>
              <a:srgbClr val="16A34A"/>
            </a:solidFill>
            <a:prstDash val="solid"/>
          </a:ln>
        </p:spPr>
      </p:sp>
      <p:sp>
        <p:nvSpPr>
          <p:cNvPr id="7" name="Text 5"/>
          <p:cNvSpPr/>
          <p:nvPr/>
        </p:nvSpPr>
        <p:spPr>
          <a:xfrm>
            <a:off x="1298448" y="1920240"/>
            <a:ext cx="4434840" cy="292608"/>
          </a:xfrm>
          <a:prstGeom prst="rect">
            <a:avLst/>
          </a:prstGeom>
          <a:noFill/>
        </p:spPr>
        <p:txBody>
          <a:bodyPr wrap="square" lIns="381" tIns="381" rIns="381" bIns="381" rtlCol="0" anchor="ctr">
            <a:normAutofit/>
          </a:bodyPr>
          <a:lstStyle/>
          <a:p>
            <a:pPr marL="0" indent="0" algn="l">
              <a:buNone/>
            </a:pPr>
            <a:r>
              <a:rPr lang="en-US" sz="1700" dirty="0">
                <a:solidFill>
                  <a:srgbClr val="111827"/>
                </a:solidFill>
                <a:latin typeface="Arial" panose="020B0604020202020204" pitchFamily="34" charset="0"/>
                <a:ea typeface="Arial" panose="020B0604020202020204" pitchFamily="34" charset="-122"/>
                <a:cs typeface="Arial" panose="020B0604020202020204" pitchFamily="34" charset="-120"/>
              </a:rPr>
              <a:t>README with setup and commands</a:t>
            </a:r>
            <a:endParaRPr lang="en-US" sz="1700" dirty="0"/>
          </a:p>
        </p:txBody>
      </p:sp>
      <p:sp>
        <p:nvSpPr>
          <p:cNvPr id="8" name="Shape 6"/>
          <p:cNvSpPr/>
          <p:nvPr/>
        </p:nvSpPr>
        <p:spPr>
          <a:xfrm>
            <a:off x="914400" y="2633472"/>
            <a:ext cx="201168" cy="201168"/>
          </a:xfrm>
          <a:prstGeom prst="ellipse">
            <a:avLst/>
          </a:prstGeom>
          <a:solidFill>
            <a:srgbClr val="16A34A"/>
          </a:solidFill>
          <a:ln w="12700">
            <a:solidFill>
              <a:srgbClr val="16A34A"/>
            </a:solidFill>
            <a:prstDash val="solid"/>
          </a:ln>
        </p:spPr>
      </p:sp>
      <p:sp>
        <p:nvSpPr>
          <p:cNvPr id="9" name="Text 7"/>
          <p:cNvSpPr/>
          <p:nvPr/>
        </p:nvSpPr>
        <p:spPr>
          <a:xfrm>
            <a:off x="1298448" y="2606040"/>
            <a:ext cx="4434840" cy="292608"/>
          </a:xfrm>
          <a:prstGeom prst="rect">
            <a:avLst/>
          </a:prstGeom>
          <a:noFill/>
        </p:spPr>
        <p:txBody>
          <a:bodyPr wrap="square" lIns="381" tIns="381" rIns="381" bIns="381" rtlCol="0" anchor="ctr">
            <a:normAutofit/>
          </a:bodyPr>
          <a:lstStyle/>
          <a:p>
            <a:pPr marL="0" indent="0" algn="l">
              <a:buNone/>
            </a:pPr>
            <a:r>
              <a:rPr lang="en-US" sz="1700" dirty="0">
                <a:solidFill>
                  <a:srgbClr val="111827"/>
                </a:solidFill>
                <a:latin typeface="Arial" panose="020B0604020202020204" pitchFamily="34" charset="0"/>
                <a:ea typeface="Arial" panose="020B0604020202020204" pitchFamily="34" charset="-122"/>
                <a:cs typeface="Arial" panose="020B0604020202020204" pitchFamily="34" charset="-120"/>
              </a:rPr>
              <a:t>Spark code and local-cluster launcher</a:t>
            </a:r>
            <a:endParaRPr lang="en-US" sz="1700" dirty="0"/>
          </a:p>
        </p:txBody>
      </p:sp>
      <p:sp>
        <p:nvSpPr>
          <p:cNvPr id="10" name="Shape 8"/>
          <p:cNvSpPr/>
          <p:nvPr/>
        </p:nvSpPr>
        <p:spPr>
          <a:xfrm>
            <a:off x="914400" y="3319272"/>
            <a:ext cx="201168" cy="201168"/>
          </a:xfrm>
          <a:prstGeom prst="ellipse">
            <a:avLst/>
          </a:prstGeom>
          <a:solidFill>
            <a:srgbClr val="16A34A"/>
          </a:solidFill>
          <a:ln w="12700">
            <a:solidFill>
              <a:srgbClr val="16A34A"/>
            </a:solidFill>
            <a:prstDash val="solid"/>
          </a:ln>
        </p:spPr>
      </p:sp>
      <p:sp>
        <p:nvSpPr>
          <p:cNvPr id="11" name="Text 9"/>
          <p:cNvSpPr/>
          <p:nvPr/>
        </p:nvSpPr>
        <p:spPr>
          <a:xfrm>
            <a:off x="1298448" y="3291840"/>
            <a:ext cx="4434840" cy="292608"/>
          </a:xfrm>
          <a:prstGeom prst="rect">
            <a:avLst/>
          </a:prstGeom>
          <a:noFill/>
        </p:spPr>
        <p:txBody>
          <a:bodyPr wrap="square" lIns="381" tIns="381" rIns="381" bIns="381" rtlCol="0" anchor="ctr">
            <a:normAutofit/>
          </a:bodyPr>
          <a:lstStyle/>
          <a:p>
            <a:pPr marL="0" indent="0" algn="l">
              <a:buNone/>
            </a:pPr>
            <a:r>
              <a:rPr lang="en-US" sz="1700" dirty="0">
                <a:solidFill>
                  <a:srgbClr val="111827"/>
                </a:solidFill>
                <a:latin typeface="Arial" panose="020B0604020202020204" pitchFamily="34" charset="0"/>
                <a:ea typeface="Arial" panose="020B0604020202020204" pitchFamily="34" charset="-122"/>
                <a:cs typeface="Arial" panose="020B0604020202020204" pitchFamily="34" charset="-120"/>
              </a:rPr>
              <a:t>Correctness checker and sample input</a:t>
            </a:r>
            <a:endParaRPr lang="en-US" sz="1700" dirty="0"/>
          </a:p>
        </p:txBody>
      </p:sp>
      <p:sp>
        <p:nvSpPr>
          <p:cNvPr id="12" name="Shape 10"/>
          <p:cNvSpPr/>
          <p:nvPr/>
        </p:nvSpPr>
        <p:spPr>
          <a:xfrm>
            <a:off x="914400" y="4005072"/>
            <a:ext cx="201168" cy="201168"/>
          </a:xfrm>
          <a:prstGeom prst="ellipse">
            <a:avLst/>
          </a:prstGeom>
          <a:solidFill>
            <a:srgbClr val="16A34A"/>
          </a:solidFill>
          <a:ln w="12700">
            <a:solidFill>
              <a:srgbClr val="16A34A"/>
            </a:solidFill>
            <a:prstDash val="solid"/>
          </a:ln>
        </p:spPr>
      </p:sp>
      <p:sp>
        <p:nvSpPr>
          <p:cNvPr id="13" name="Text 11"/>
          <p:cNvSpPr/>
          <p:nvPr/>
        </p:nvSpPr>
        <p:spPr>
          <a:xfrm>
            <a:off x="1298448" y="3977640"/>
            <a:ext cx="4434840" cy="292608"/>
          </a:xfrm>
          <a:prstGeom prst="rect">
            <a:avLst/>
          </a:prstGeom>
          <a:noFill/>
        </p:spPr>
        <p:txBody>
          <a:bodyPr wrap="square" lIns="381" tIns="381" rIns="381" bIns="381" rtlCol="0" anchor="ctr">
            <a:normAutofit/>
          </a:bodyPr>
          <a:lstStyle/>
          <a:p>
            <a:pPr marL="0" indent="0" algn="l">
              <a:buNone/>
            </a:pPr>
            <a:r>
              <a:rPr lang="en-US" sz="1700" dirty="0">
                <a:solidFill>
                  <a:srgbClr val="111827"/>
                </a:solidFill>
                <a:latin typeface="Arial" panose="020B0604020202020204" pitchFamily="34" charset="0"/>
                <a:ea typeface="Arial" panose="020B0604020202020204" pitchFamily="34" charset="-122"/>
                <a:cs typeface="Arial" panose="020B0604020202020204" pitchFamily="34" charset="-120"/>
              </a:rPr>
              <a:t>Raw JSON / CSV results and scripts</a:t>
            </a:r>
            <a:endParaRPr lang="en-US" sz="1700" dirty="0"/>
          </a:p>
        </p:txBody>
      </p:sp>
      <p:sp>
        <p:nvSpPr>
          <p:cNvPr id="14" name="Shape 12"/>
          <p:cNvSpPr/>
          <p:nvPr/>
        </p:nvSpPr>
        <p:spPr>
          <a:xfrm>
            <a:off x="6446520" y="1947672"/>
            <a:ext cx="201168" cy="201168"/>
          </a:xfrm>
          <a:prstGeom prst="ellipse">
            <a:avLst/>
          </a:prstGeom>
          <a:solidFill>
            <a:srgbClr val="D97706"/>
          </a:solidFill>
          <a:ln w="12700">
            <a:solidFill>
              <a:srgbClr val="D97706"/>
            </a:solidFill>
            <a:prstDash val="solid"/>
          </a:ln>
        </p:spPr>
      </p:sp>
      <p:sp>
        <p:nvSpPr>
          <p:cNvPr id="15" name="Text 13"/>
          <p:cNvSpPr/>
          <p:nvPr/>
        </p:nvSpPr>
        <p:spPr>
          <a:xfrm>
            <a:off x="6830568" y="1920240"/>
            <a:ext cx="4434840" cy="292608"/>
          </a:xfrm>
          <a:prstGeom prst="rect">
            <a:avLst/>
          </a:prstGeom>
          <a:noFill/>
        </p:spPr>
        <p:txBody>
          <a:bodyPr wrap="square" lIns="381" tIns="381" rIns="381" bIns="381" rtlCol="0" anchor="ctr">
            <a:normAutofit/>
          </a:bodyPr>
          <a:lstStyle/>
          <a:p>
            <a:pPr marL="0" indent="0" algn="l">
              <a:buNone/>
            </a:pPr>
            <a:r>
              <a:rPr lang="en-US" sz="1700" dirty="0">
                <a:solidFill>
                  <a:srgbClr val="111827"/>
                </a:solidFill>
                <a:latin typeface="Arial" panose="020B0604020202020204" pitchFamily="34" charset="0"/>
                <a:ea typeface="Arial" panose="020B0604020202020204" pitchFamily="34" charset="-122"/>
                <a:cs typeface="Arial" panose="020B0604020202020204" pitchFamily="34" charset="-120"/>
              </a:rPr>
              <a:t>3-4 page report with references</a:t>
            </a:r>
            <a:endParaRPr lang="en-US" sz="1700" dirty="0"/>
          </a:p>
        </p:txBody>
      </p:sp>
      <p:sp>
        <p:nvSpPr>
          <p:cNvPr id="16" name="Shape 14"/>
          <p:cNvSpPr/>
          <p:nvPr/>
        </p:nvSpPr>
        <p:spPr>
          <a:xfrm>
            <a:off x="6446520" y="2633472"/>
            <a:ext cx="201168" cy="201168"/>
          </a:xfrm>
          <a:prstGeom prst="ellipse">
            <a:avLst/>
          </a:prstGeom>
          <a:solidFill>
            <a:srgbClr val="D97706"/>
          </a:solidFill>
          <a:ln w="12700">
            <a:solidFill>
              <a:srgbClr val="D97706"/>
            </a:solidFill>
            <a:prstDash val="solid"/>
          </a:ln>
        </p:spPr>
      </p:sp>
      <p:sp>
        <p:nvSpPr>
          <p:cNvPr id="17" name="Text 15"/>
          <p:cNvSpPr/>
          <p:nvPr/>
        </p:nvSpPr>
        <p:spPr>
          <a:xfrm>
            <a:off x="6830568" y="2606040"/>
            <a:ext cx="4434840" cy="292608"/>
          </a:xfrm>
          <a:prstGeom prst="rect">
            <a:avLst/>
          </a:prstGeom>
          <a:noFill/>
        </p:spPr>
        <p:txBody>
          <a:bodyPr wrap="square" lIns="381" tIns="381" rIns="381" bIns="381" rtlCol="0" anchor="ctr">
            <a:normAutofit/>
          </a:bodyPr>
          <a:lstStyle/>
          <a:p>
            <a:pPr marL="0" indent="0" algn="l">
              <a:buNone/>
            </a:pPr>
            <a:r>
              <a:rPr lang="en-US" sz="1700" dirty="0">
                <a:solidFill>
                  <a:srgbClr val="111827"/>
                </a:solidFill>
                <a:latin typeface="Arial" panose="020B0604020202020204" pitchFamily="34" charset="0"/>
                <a:ea typeface="Arial" panose="020B0604020202020204" pitchFamily="34" charset="-122"/>
                <a:cs typeface="Arial" panose="020B0604020202020204" pitchFamily="34" charset="-120"/>
              </a:rPr>
              <a:t>Presentation demo and speaker notes</a:t>
            </a:r>
            <a:endParaRPr lang="en-US" sz="1700" dirty="0"/>
          </a:p>
        </p:txBody>
      </p:sp>
      <p:sp>
        <p:nvSpPr>
          <p:cNvPr id="18" name="Shape 16"/>
          <p:cNvSpPr/>
          <p:nvPr/>
        </p:nvSpPr>
        <p:spPr>
          <a:xfrm>
            <a:off x="6446520" y="3319272"/>
            <a:ext cx="201168" cy="201168"/>
          </a:xfrm>
          <a:prstGeom prst="ellipse">
            <a:avLst/>
          </a:prstGeom>
          <a:solidFill>
            <a:srgbClr val="D97706"/>
          </a:solidFill>
          <a:ln w="12700">
            <a:solidFill>
              <a:srgbClr val="D97706"/>
            </a:solidFill>
            <a:prstDash val="solid"/>
          </a:ln>
        </p:spPr>
      </p:sp>
      <p:sp>
        <p:nvSpPr>
          <p:cNvPr id="19" name="Text 17"/>
          <p:cNvSpPr/>
          <p:nvPr/>
        </p:nvSpPr>
        <p:spPr>
          <a:xfrm>
            <a:off x="6830568" y="3291840"/>
            <a:ext cx="4434840" cy="292608"/>
          </a:xfrm>
          <a:prstGeom prst="rect">
            <a:avLst/>
          </a:prstGeom>
          <a:noFill/>
        </p:spPr>
        <p:txBody>
          <a:bodyPr wrap="square" lIns="381" tIns="381" rIns="381" bIns="381" rtlCol="0" anchor="ctr">
            <a:normAutofit/>
          </a:bodyPr>
          <a:lstStyle/>
          <a:p>
            <a:pPr marL="0" indent="0" algn="l">
              <a:buNone/>
            </a:pPr>
            <a:r>
              <a:rPr lang="en-US" sz="1700" dirty="0">
                <a:solidFill>
                  <a:srgbClr val="111827"/>
                </a:solidFill>
                <a:latin typeface="Arial" panose="020B0604020202020204" pitchFamily="34" charset="0"/>
                <a:ea typeface="Arial" panose="020B0604020202020204" pitchFamily="34" charset="-122"/>
                <a:cs typeface="Arial" panose="020B0604020202020204" pitchFamily="34" charset="-120"/>
              </a:rPr>
              <a:t>AI-use and external-code disclosure</a:t>
            </a:r>
            <a:endParaRPr lang="en-US" sz="1700" dirty="0"/>
          </a:p>
        </p:txBody>
      </p:sp>
      <p:sp>
        <p:nvSpPr>
          <p:cNvPr id="20" name="Shape 18"/>
          <p:cNvSpPr/>
          <p:nvPr/>
        </p:nvSpPr>
        <p:spPr>
          <a:xfrm>
            <a:off x="6446520" y="4005072"/>
            <a:ext cx="201168" cy="201168"/>
          </a:xfrm>
          <a:prstGeom prst="ellipse">
            <a:avLst/>
          </a:prstGeom>
          <a:solidFill>
            <a:srgbClr val="D97706"/>
          </a:solidFill>
          <a:ln w="12700">
            <a:solidFill>
              <a:srgbClr val="D97706"/>
            </a:solidFill>
            <a:prstDash val="solid"/>
          </a:ln>
        </p:spPr>
      </p:sp>
      <p:sp>
        <p:nvSpPr>
          <p:cNvPr id="21" name="Text 19"/>
          <p:cNvSpPr/>
          <p:nvPr/>
        </p:nvSpPr>
        <p:spPr>
          <a:xfrm>
            <a:off x="6830568" y="3977640"/>
            <a:ext cx="4434840" cy="292608"/>
          </a:xfrm>
          <a:prstGeom prst="rect">
            <a:avLst/>
          </a:prstGeom>
          <a:noFill/>
        </p:spPr>
        <p:txBody>
          <a:bodyPr wrap="square" lIns="381" tIns="381" rIns="381" bIns="381" rtlCol="0" anchor="ctr">
            <a:normAutofit/>
          </a:bodyPr>
          <a:lstStyle/>
          <a:p>
            <a:pPr marL="0" indent="0" algn="l">
              <a:buNone/>
            </a:pPr>
            <a:r>
              <a:rPr lang="en-US" sz="1700" dirty="0">
                <a:solidFill>
                  <a:srgbClr val="111827"/>
                </a:solidFill>
                <a:latin typeface="Arial" panose="020B0604020202020204" pitchFamily="34" charset="0"/>
                <a:ea typeface="Arial" panose="020B0604020202020204" pitchFamily="34" charset="-122"/>
                <a:cs typeface="Arial" panose="020B0604020202020204" pitchFamily="34" charset="-120"/>
              </a:rPr>
              <a:t>After 26 Oct: add feedback changes</a:t>
            </a:r>
            <a:endParaRPr lang="en-US" sz="1700" dirty="0"/>
          </a:p>
        </p:txBody>
      </p:sp>
      <p:sp>
        <p:nvSpPr>
          <p:cNvPr id="22" name="Shape 20"/>
          <p:cNvSpPr/>
          <p:nvPr/>
        </p:nvSpPr>
        <p:spPr>
          <a:xfrm>
            <a:off x="914400" y="5074920"/>
            <a:ext cx="10195560" cy="658368"/>
          </a:xfrm>
          <a:prstGeom prst="roundRect">
            <a:avLst>
              <a:gd name="adj" fmla="val 8333"/>
            </a:avLst>
          </a:prstGeom>
          <a:solidFill>
            <a:srgbClr val="EFF6FF"/>
          </a:solidFill>
          <a:ln w="12700">
            <a:solidFill>
              <a:srgbClr val="BFDBFE"/>
            </a:solidFill>
            <a:prstDash val="solid"/>
          </a:ln>
        </p:spPr>
      </p:sp>
      <p:sp>
        <p:nvSpPr>
          <p:cNvPr id="23" name="Text 21"/>
          <p:cNvSpPr/>
          <p:nvPr/>
        </p:nvSpPr>
        <p:spPr>
          <a:xfrm>
            <a:off x="1143000" y="5285232"/>
            <a:ext cx="9738360" cy="228600"/>
          </a:xfrm>
          <a:prstGeom prst="rect">
            <a:avLst/>
          </a:prstGeom>
          <a:noFill/>
        </p:spPr>
        <p:txBody>
          <a:bodyPr wrap="square" lIns="381" tIns="381" rIns="381" bIns="381" rtlCol="0" anchor="ctr">
            <a:normAutofit/>
          </a:bodyPr>
          <a:lstStyle/>
          <a:p>
            <a:pPr marL="0" indent="0" algn="ctr">
              <a:buNone/>
            </a:pPr>
            <a:r>
              <a:rPr lang="en-US" sz="2000" b="1" dirty="0">
                <a:solidFill>
                  <a:srgbClr val="1E3A8A"/>
                </a:solidFill>
                <a:latin typeface="Arial" panose="020B0604020202020204" pitchFamily="34" charset="0"/>
                <a:ea typeface="Arial" panose="020B0604020202020204" pitchFamily="34" charset="-122"/>
                <a:cs typeface="Arial" panose="020B0604020202020204" pitchFamily="34" charset="-120"/>
              </a:rPr>
              <a:t>Main takeaway: caching pays when repeated reuse is large enough to amortize materialization.</a:t>
            </a:r>
            <a:endParaRPr lang="en-US" sz="2000" dirty="0"/>
          </a:p>
        </p:txBody>
      </p:sp>
      <p:sp>
        <p:nvSpPr>
          <p:cNvPr id="25" name="Slide Number Placeholder 0"/>
          <p:cNvSpPr>
            <a:spLocks noGrp="1"/>
          </p:cNvSpPr>
          <p:nvPr>
            <p:ph type="sldNum" sz="quarter" idx="4294967295"/>
          </p:nvPr>
        </p:nvSpPr>
        <p:spPr>
          <a:xfrm>
            <a:off x="11795760" y="6473952"/>
            <a:ext cx="800000" cy="300000"/>
          </a:xfrm>
          <a:prstGeom prst="rect">
            <a:avLst/>
          </a:prstGeom>
        </p:spPr>
        <p:txBody>
          <a:bodyPr/>
          <a:lstStyle>
            <a:lvl1pPr>
              <a:defRPr sz="800">
                <a:solidFill>
                  <a:srgbClr val="64748B"/>
                </a:solidFill>
                <a:latin typeface="Arial" panose="020B0604020202020204"/>
                <a:ea typeface="Arial" panose="020B0604020202020204"/>
                <a:cs typeface="Arial" panose="020B0604020202020204"/>
              </a:defRPr>
            </a:lvl1pPr>
          </a:lstStyle>
          <a:p>
            <a:pPr algn="l"/>
            <a:fld id="{F7021451-1387-4CA6-816F-3879F97B5CBC}" type="slidenum">
              <a:rPr lang="en-US" b="0"/>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4248</Words>
  <Application>WPS 演示</Application>
  <PresentationFormat>On-screen Show (16:9)</PresentationFormat>
  <Paragraphs>336</Paragraphs>
  <Slides>11</Slides>
  <Notes>11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11</vt:i4>
      </vt:variant>
    </vt:vector>
  </HeadingPairs>
  <TitlesOfParts>
    <vt:vector size="20" baseType="lpstr">
      <vt:lpstr>Arial</vt:lpstr>
      <vt:lpstr>宋体</vt:lpstr>
      <vt:lpstr>Wingdings</vt:lpstr>
      <vt:lpstr>Arial</vt:lpstr>
      <vt:lpstr>Arial</vt:lpstr>
      <vt:lpstr>Arial</vt:lpstr>
      <vt:lpstr>微软雅黑</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CISC3010</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Spark Caching and Distributed Execution</dc:title>
  <dc:creator>Song Xinyue</dc:creator>
  <dc:subject>CISC3010 Project 8</dc:subject>
  <cp:lastModifiedBy>0707 宋欣悦</cp:lastModifiedBy>
  <cp:revision>2</cp:revision>
  <dcterms:created xsi:type="dcterms:W3CDTF">2026-10-25T15:01:00Z</dcterms:created>
  <dcterms:modified xsi:type="dcterms:W3CDTF">2026-10-25T15:02:44Z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297A5F3B60594E6EA4633AFC3C411AED_12</vt:lpwstr>
  </property>
  <property fmtid="{D5CDD505-2E9C-101B-9397-08002B2CF9AE}" pid="3" name="KSOProductBuildVer">
    <vt:lpwstr>2052-12.1.0.28505</vt:lpwstr>
  </property>
</Properties>
</file>